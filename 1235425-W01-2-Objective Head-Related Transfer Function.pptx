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1566863" indent="-1109663"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3133725" indent="-2219325"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4702175" indent="-3330575"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6269038" indent="-4440238" algn="l" defTabSz="3133725" rtl="0" eaLnBrk="0" fontAlgn="base" hangingPunct="0">
      <a:spcBef>
        <a:spcPct val="0"/>
      </a:spcBef>
      <a:spcAft>
        <a:spcPct val="0"/>
      </a:spcAft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62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912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2346" y="60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6817362"/>
            <a:ext cx="27980640" cy="4704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12435840"/>
            <a:ext cx="23042880" cy="56083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567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13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702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27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837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405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540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23A0D-7767-EBA4-A278-9FD14D00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BF241A-BEE4-49CE-9830-77C98A6B9292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AE964-6FE3-1AAD-F432-F38333BB4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46F86-25B9-CE62-84A7-01EDB474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A71DB3-B30A-4CB5-9626-683239C15A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910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08D02-1C5F-4790-6F15-79E57A3D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2A4721-5FA3-4C7F-A533-91AD83EAC035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FCD8E-C3C5-4FEE-D54B-FD8AE6914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AC6FD-6AB0-F0BF-6E3E-041AF63A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BC7E2C-D4D0-45B7-9ED6-09BD38F26B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5881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14102082"/>
            <a:ext cx="27980640" cy="4358640"/>
          </a:xfrm>
        </p:spPr>
        <p:txBody>
          <a:bodyPr anchor="t"/>
          <a:lstStyle>
            <a:lvl1pPr algn="l">
              <a:defRPr sz="13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9301483"/>
            <a:ext cx="27980640" cy="4800598"/>
          </a:xfrm>
        </p:spPr>
        <p:txBody>
          <a:bodyPr anchor="b"/>
          <a:lstStyle>
            <a:lvl1pPr marL="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1pPr>
            <a:lvl2pPr marL="1567510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2pPr>
            <a:lvl3pPr marL="3135020" indent="0">
              <a:buNone/>
              <a:defRPr sz="5500">
                <a:solidFill>
                  <a:schemeClr val="tx1">
                    <a:tint val="75000"/>
                  </a:schemeClr>
                </a:solidFill>
              </a:defRPr>
            </a:lvl3pPr>
            <a:lvl4pPr marL="470253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4pPr>
            <a:lvl5pPr marL="627004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5pPr>
            <a:lvl6pPr marL="783755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940506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1097257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12540082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7031D-43C7-59B0-6A52-1A4D186D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A7F9F8-FB4F-4F6A-978B-B003158CB803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32D9D-AAC9-1C77-5225-34D966CDE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D81AA-7073-A871-48FE-8E23F82F5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287312-E14A-446A-AE78-B11924E0E8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3159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20" y="5120641"/>
            <a:ext cx="14538960" cy="14483082"/>
          </a:xfrm>
        </p:spPr>
        <p:txBody>
          <a:bodyPr/>
          <a:lstStyle>
            <a:lvl1pPr>
              <a:defRPr sz="9600"/>
            </a:lvl1pPr>
            <a:lvl2pPr>
              <a:defRPr sz="8200"/>
            </a:lvl2pPr>
            <a:lvl3pPr>
              <a:defRPr sz="6900"/>
            </a:lvl3pPr>
            <a:lvl4pPr>
              <a:defRPr sz="6200"/>
            </a:lvl4pPr>
            <a:lvl5pPr>
              <a:defRPr sz="6200"/>
            </a:lvl5pPr>
            <a:lvl6pPr>
              <a:defRPr sz="6200"/>
            </a:lvl6pPr>
            <a:lvl7pPr>
              <a:defRPr sz="6200"/>
            </a:lvl7pPr>
            <a:lvl8pPr>
              <a:defRPr sz="6200"/>
            </a:lvl8pPr>
            <a:lvl9pPr>
              <a:defRPr sz="6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33520" y="5120641"/>
            <a:ext cx="14538960" cy="14483082"/>
          </a:xfrm>
        </p:spPr>
        <p:txBody>
          <a:bodyPr/>
          <a:lstStyle>
            <a:lvl1pPr>
              <a:defRPr sz="9600"/>
            </a:lvl1pPr>
            <a:lvl2pPr>
              <a:defRPr sz="8200"/>
            </a:lvl2pPr>
            <a:lvl3pPr>
              <a:defRPr sz="6900"/>
            </a:lvl3pPr>
            <a:lvl4pPr>
              <a:defRPr sz="6200"/>
            </a:lvl4pPr>
            <a:lvl5pPr>
              <a:defRPr sz="6200"/>
            </a:lvl5pPr>
            <a:lvl6pPr>
              <a:defRPr sz="6200"/>
            </a:lvl6pPr>
            <a:lvl7pPr>
              <a:defRPr sz="6200"/>
            </a:lvl7pPr>
            <a:lvl8pPr>
              <a:defRPr sz="6200"/>
            </a:lvl8pPr>
            <a:lvl9pPr>
              <a:defRPr sz="6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0927B79-3C2F-FF7D-ABF9-1AFB5F52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341AA4-438C-49BA-9260-34F3C23A0170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C838C83-5F52-EA01-B8F0-9F859909D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C149A6C-365F-C7F6-69A2-FF1C7904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211F2-14AE-4AAD-8477-7764735406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2304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4912362"/>
            <a:ext cx="14544677" cy="2047238"/>
          </a:xfrm>
        </p:spPr>
        <p:txBody>
          <a:bodyPr anchor="b"/>
          <a:lstStyle>
            <a:lvl1pPr marL="0" indent="0">
              <a:buNone/>
              <a:defRPr sz="8200" b="1"/>
            </a:lvl1pPr>
            <a:lvl2pPr marL="1567510" indent="0">
              <a:buNone/>
              <a:defRPr sz="6900" b="1"/>
            </a:lvl2pPr>
            <a:lvl3pPr marL="3135020" indent="0">
              <a:buNone/>
              <a:defRPr sz="6200" b="1"/>
            </a:lvl3pPr>
            <a:lvl4pPr marL="4702531" indent="0">
              <a:buNone/>
              <a:defRPr sz="5500" b="1"/>
            </a:lvl4pPr>
            <a:lvl5pPr marL="6270041" indent="0">
              <a:buNone/>
              <a:defRPr sz="5500" b="1"/>
            </a:lvl5pPr>
            <a:lvl6pPr marL="7837551" indent="0">
              <a:buNone/>
              <a:defRPr sz="5500" b="1"/>
            </a:lvl6pPr>
            <a:lvl7pPr marL="9405061" indent="0">
              <a:buNone/>
              <a:defRPr sz="5500" b="1"/>
            </a:lvl7pPr>
            <a:lvl8pPr marL="10972571" indent="0">
              <a:buNone/>
              <a:defRPr sz="5500" b="1"/>
            </a:lvl8pPr>
            <a:lvl9pPr marL="12540082" indent="0">
              <a:buNone/>
              <a:defRPr sz="5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6959600"/>
            <a:ext cx="14544677" cy="12644122"/>
          </a:xfrm>
        </p:spPr>
        <p:txBody>
          <a:bodyPr/>
          <a:lstStyle>
            <a:lvl1pPr>
              <a:defRPr sz="8200"/>
            </a:lvl1pPr>
            <a:lvl2pPr>
              <a:defRPr sz="6900"/>
            </a:lvl2pPr>
            <a:lvl3pPr>
              <a:defRPr sz="6200"/>
            </a:lvl3pPr>
            <a:lvl4pPr>
              <a:defRPr sz="5500"/>
            </a:lvl4pPr>
            <a:lvl5pPr>
              <a:defRPr sz="5500"/>
            </a:lvl5pPr>
            <a:lvl6pPr>
              <a:defRPr sz="5500"/>
            </a:lvl6pPr>
            <a:lvl7pPr>
              <a:defRPr sz="5500"/>
            </a:lvl7pPr>
            <a:lvl8pPr>
              <a:defRPr sz="5500"/>
            </a:lvl8pPr>
            <a:lvl9pPr>
              <a:defRPr sz="5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2" y="4912362"/>
            <a:ext cx="14550390" cy="2047238"/>
          </a:xfrm>
        </p:spPr>
        <p:txBody>
          <a:bodyPr anchor="b"/>
          <a:lstStyle>
            <a:lvl1pPr marL="0" indent="0">
              <a:buNone/>
              <a:defRPr sz="8200" b="1"/>
            </a:lvl1pPr>
            <a:lvl2pPr marL="1567510" indent="0">
              <a:buNone/>
              <a:defRPr sz="6900" b="1"/>
            </a:lvl2pPr>
            <a:lvl3pPr marL="3135020" indent="0">
              <a:buNone/>
              <a:defRPr sz="6200" b="1"/>
            </a:lvl3pPr>
            <a:lvl4pPr marL="4702531" indent="0">
              <a:buNone/>
              <a:defRPr sz="5500" b="1"/>
            </a:lvl4pPr>
            <a:lvl5pPr marL="6270041" indent="0">
              <a:buNone/>
              <a:defRPr sz="5500" b="1"/>
            </a:lvl5pPr>
            <a:lvl6pPr marL="7837551" indent="0">
              <a:buNone/>
              <a:defRPr sz="5500" b="1"/>
            </a:lvl6pPr>
            <a:lvl7pPr marL="9405061" indent="0">
              <a:buNone/>
              <a:defRPr sz="5500" b="1"/>
            </a:lvl7pPr>
            <a:lvl8pPr marL="10972571" indent="0">
              <a:buNone/>
              <a:defRPr sz="5500" b="1"/>
            </a:lvl8pPr>
            <a:lvl9pPr marL="12540082" indent="0">
              <a:buNone/>
              <a:defRPr sz="5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2" y="6959600"/>
            <a:ext cx="14550390" cy="12644122"/>
          </a:xfrm>
        </p:spPr>
        <p:txBody>
          <a:bodyPr/>
          <a:lstStyle>
            <a:lvl1pPr>
              <a:defRPr sz="8200"/>
            </a:lvl1pPr>
            <a:lvl2pPr>
              <a:defRPr sz="6900"/>
            </a:lvl2pPr>
            <a:lvl3pPr>
              <a:defRPr sz="6200"/>
            </a:lvl3pPr>
            <a:lvl4pPr>
              <a:defRPr sz="5500"/>
            </a:lvl4pPr>
            <a:lvl5pPr>
              <a:defRPr sz="5500"/>
            </a:lvl5pPr>
            <a:lvl6pPr>
              <a:defRPr sz="5500"/>
            </a:lvl6pPr>
            <a:lvl7pPr>
              <a:defRPr sz="5500"/>
            </a:lvl7pPr>
            <a:lvl8pPr>
              <a:defRPr sz="5500"/>
            </a:lvl8pPr>
            <a:lvl9pPr>
              <a:defRPr sz="5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5470A02-E527-4B9A-FE18-00F03F0B8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88CDE4-8774-430C-9D48-AF4508BF814E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1A15AFB-2B8D-0D42-A212-D9D07A25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C671745-7E4F-A2BE-B741-A9BEA60EB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249586-1B67-43EA-B02C-75DB934149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3686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E0CB2FF-44A0-F7C2-A70D-ECAA4E32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F5088B-73E0-4F05-8534-61655A5C0D68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F530DB-6CF5-6CEE-4D64-447B15261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928C390-E52B-21E5-838E-5FB26B335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B6A9D9-2818-4308-B18E-453A076C42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8122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13D960D-4130-C98B-211F-2D37B0A9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7D0DDB3-FBCB-4827-9DC0-A5A617405BC0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D1B9257-74A0-E843-3667-B1E61F39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940D157-9437-E425-4363-677808DD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E452C3-702C-438A-B42E-2C33835957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5257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2" y="873760"/>
            <a:ext cx="10829927" cy="3718560"/>
          </a:xfrm>
        </p:spPr>
        <p:txBody>
          <a:bodyPr anchor="b"/>
          <a:lstStyle>
            <a:lvl1pPr algn="l">
              <a:defRPr sz="6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873761"/>
            <a:ext cx="18402300" cy="18729962"/>
          </a:xfrm>
        </p:spPr>
        <p:txBody>
          <a:bodyPr/>
          <a:lstStyle>
            <a:lvl1pPr>
              <a:defRPr sz="11000"/>
            </a:lvl1pPr>
            <a:lvl2pPr>
              <a:defRPr sz="9600"/>
            </a:lvl2pPr>
            <a:lvl3pPr>
              <a:defRPr sz="82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2" y="4592321"/>
            <a:ext cx="10829927" cy="15011402"/>
          </a:xfrm>
        </p:spPr>
        <p:txBody>
          <a:bodyPr/>
          <a:lstStyle>
            <a:lvl1pPr marL="0" indent="0">
              <a:buNone/>
              <a:defRPr sz="4800"/>
            </a:lvl1pPr>
            <a:lvl2pPr marL="1567510" indent="0">
              <a:buNone/>
              <a:defRPr sz="4100"/>
            </a:lvl2pPr>
            <a:lvl3pPr marL="3135020" indent="0">
              <a:buNone/>
              <a:defRPr sz="3400"/>
            </a:lvl3pPr>
            <a:lvl4pPr marL="4702531" indent="0">
              <a:buNone/>
              <a:defRPr sz="3100"/>
            </a:lvl4pPr>
            <a:lvl5pPr marL="6270041" indent="0">
              <a:buNone/>
              <a:defRPr sz="3100"/>
            </a:lvl5pPr>
            <a:lvl6pPr marL="7837551" indent="0">
              <a:buNone/>
              <a:defRPr sz="3100"/>
            </a:lvl6pPr>
            <a:lvl7pPr marL="9405061" indent="0">
              <a:buNone/>
              <a:defRPr sz="3100"/>
            </a:lvl7pPr>
            <a:lvl8pPr marL="10972571" indent="0">
              <a:buNone/>
              <a:defRPr sz="3100"/>
            </a:lvl8pPr>
            <a:lvl9pPr marL="12540082" indent="0">
              <a:buNone/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BDB12BB-B9C5-A47E-3F46-2E5823AE4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967BAF-2CB0-4355-98E7-2197F075F23D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0AF47DF-5A4F-8479-62BA-8D87AD51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D03DF86-DA4D-73C7-C7D2-B8183781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AC5B0-4814-40D2-809B-A7006985C2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4351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15361920"/>
            <a:ext cx="19751040" cy="1813562"/>
          </a:xfrm>
        </p:spPr>
        <p:txBody>
          <a:bodyPr anchor="b"/>
          <a:lstStyle>
            <a:lvl1pPr algn="l">
              <a:defRPr sz="6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1960880"/>
            <a:ext cx="19751040" cy="13167360"/>
          </a:xfrm>
        </p:spPr>
        <p:txBody>
          <a:bodyPr rtlCol="0">
            <a:normAutofit/>
          </a:bodyPr>
          <a:lstStyle>
            <a:lvl1pPr marL="0" indent="0">
              <a:buNone/>
              <a:defRPr sz="11000"/>
            </a:lvl1pPr>
            <a:lvl2pPr marL="1567510" indent="0">
              <a:buNone/>
              <a:defRPr sz="9600"/>
            </a:lvl2pPr>
            <a:lvl3pPr marL="3135020" indent="0">
              <a:buNone/>
              <a:defRPr sz="8200"/>
            </a:lvl3pPr>
            <a:lvl4pPr marL="4702531" indent="0">
              <a:buNone/>
              <a:defRPr sz="6900"/>
            </a:lvl4pPr>
            <a:lvl5pPr marL="6270041" indent="0">
              <a:buNone/>
              <a:defRPr sz="6900"/>
            </a:lvl5pPr>
            <a:lvl6pPr marL="7837551" indent="0">
              <a:buNone/>
              <a:defRPr sz="6900"/>
            </a:lvl6pPr>
            <a:lvl7pPr marL="9405061" indent="0">
              <a:buNone/>
              <a:defRPr sz="6900"/>
            </a:lvl7pPr>
            <a:lvl8pPr marL="10972571" indent="0">
              <a:buNone/>
              <a:defRPr sz="6900"/>
            </a:lvl8pPr>
            <a:lvl9pPr marL="12540082" indent="0">
              <a:buNone/>
              <a:defRPr sz="6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17175482"/>
            <a:ext cx="19751040" cy="2575558"/>
          </a:xfrm>
        </p:spPr>
        <p:txBody>
          <a:bodyPr/>
          <a:lstStyle>
            <a:lvl1pPr marL="0" indent="0">
              <a:buNone/>
              <a:defRPr sz="4800"/>
            </a:lvl1pPr>
            <a:lvl2pPr marL="1567510" indent="0">
              <a:buNone/>
              <a:defRPr sz="4100"/>
            </a:lvl2pPr>
            <a:lvl3pPr marL="3135020" indent="0">
              <a:buNone/>
              <a:defRPr sz="3400"/>
            </a:lvl3pPr>
            <a:lvl4pPr marL="4702531" indent="0">
              <a:buNone/>
              <a:defRPr sz="3100"/>
            </a:lvl4pPr>
            <a:lvl5pPr marL="6270041" indent="0">
              <a:buNone/>
              <a:defRPr sz="3100"/>
            </a:lvl5pPr>
            <a:lvl6pPr marL="7837551" indent="0">
              <a:buNone/>
              <a:defRPr sz="3100"/>
            </a:lvl6pPr>
            <a:lvl7pPr marL="9405061" indent="0">
              <a:buNone/>
              <a:defRPr sz="3100"/>
            </a:lvl7pPr>
            <a:lvl8pPr marL="10972571" indent="0">
              <a:buNone/>
              <a:defRPr sz="3100"/>
            </a:lvl8pPr>
            <a:lvl9pPr marL="12540082" indent="0">
              <a:buNone/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C327F48-BE52-266B-6FBD-8C15C835C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574395-E4B1-4E34-AD2E-07D0B1ACF632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9055543-6D1B-36F1-963D-CEBC11560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3C8B1F9-1030-C487-5A54-B208C698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7AF00-1EFB-4B56-846D-4128AC7748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715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43E99-14BE-C4FA-6BC2-85BA0796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4EF1C5-8F93-4B80-9045-CEEBF0004D8C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B1216-F3BA-2DE7-467D-FFD149D5D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431FF-38FF-51AD-4328-8EA8FA79F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746D72-DA67-4071-B76F-C7A9B4FF31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398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5840" y="878843"/>
            <a:ext cx="7406640" cy="187248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920" y="878843"/>
            <a:ext cx="21671280" cy="187248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9859B-DBA9-4BB7-479C-40560EA4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8EB05D-3E69-477D-AEFF-D5D6DCAA7087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9A513-F0C9-F8FA-C669-BF46A418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39FDD-4FFD-2544-BC37-9493B708D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ECB5A-46D6-4F70-9B86-8607672326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038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D96C039-EA9A-F260-9CCC-F37452769A1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646238" y="879475"/>
            <a:ext cx="2962592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13502" tIns="156751" rIns="313502" bIns="15675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AD372A3-CE4D-8504-88CF-8510DB92A5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646238" y="5121275"/>
            <a:ext cx="29625925" cy="144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13502" tIns="156751" rIns="313502" bIns="1567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F607-310C-BC04-3D9F-693FDF843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46238" y="20340638"/>
            <a:ext cx="7680325" cy="1168400"/>
          </a:xfrm>
          <a:prstGeom prst="rect">
            <a:avLst/>
          </a:prstGeom>
        </p:spPr>
        <p:txBody>
          <a:bodyPr vert="horz" wrap="square" lIns="313502" tIns="156751" rIns="313502" bIns="156751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4100">
                <a:solidFill>
                  <a:srgbClr val="898989"/>
                </a:solidFill>
              </a:defRPr>
            </a:lvl1pPr>
          </a:lstStyle>
          <a:p>
            <a:fld id="{29C1AF41-CC20-40F6-A012-1BA22C409381}" type="datetimeFigureOut">
              <a:rPr lang="en-US" altLang="zh-CN"/>
              <a:pPr/>
              <a:t>4/21/2026</a:t>
            </a:fld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B2A8D-C6C2-1853-CDF3-85830F2E1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47438" y="20340638"/>
            <a:ext cx="10423525" cy="1168400"/>
          </a:xfrm>
          <a:prstGeom prst="rect">
            <a:avLst/>
          </a:prstGeom>
        </p:spPr>
        <p:txBody>
          <a:bodyPr vert="horz" lIns="313502" tIns="156751" rIns="313502" bIns="156751" rtlCol="0" anchor="ctr"/>
          <a:lstStyle>
            <a:lvl1pPr algn="ctr" defTabSz="3135020" eaLnBrk="1" fontAlgn="auto" hangingPunct="1">
              <a:spcBef>
                <a:spcPts val="0"/>
              </a:spcBef>
              <a:spcAft>
                <a:spcPts val="0"/>
              </a:spcAft>
              <a:defRPr sz="41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5846C-4EDF-CDAA-4489-77460F355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91838" y="20340638"/>
            <a:ext cx="7680325" cy="1168400"/>
          </a:xfrm>
          <a:prstGeom prst="rect">
            <a:avLst/>
          </a:prstGeom>
        </p:spPr>
        <p:txBody>
          <a:bodyPr vert="horz" wrap="square" lIns="313502" tIns="156751" rIns="313502" bIns="156751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4100">
                <a:solidFill>
                  <a:srgbClr val="898989"/>
                </a:solidFill>
              </a:defRPr>
            </a:lvl1pPr>
          </a:lstStyle>
          <a:p>
            <a:fld id="{BDA66E30-2111-436D-8C6B-1B8110CED47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133725" rtl="0" eaLnBrk="0" fontAlgn="base" hangingPunct="0">
        <a:spcBef>
          <a:spcPct val="0"/>
        </a:spcBef>
        <a:spcAft>
          <a:spcPct val="0"/>
        </a:spcAft>
        <a:defRPr sz="151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3133725" rtl="0" eaLnBrk="0" fontAlgn="base" hangingPunct="0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2pPr>
      <a:lvl3pPr algn="ctr" defTabSz="3133725" rtl="0" eaLnBrk="0" fontAlgn="base" hangingPunct="0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3pPr>
      <a:lvl4pPr algn="ctr" defTabSz="3133725" rtl="0" eaLnBrk="0" fontAlgn="base" hangingPunct="0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4pPr>
      <a:lvl5pPr algn="ctr" defTabSz="3133725" rtl="0" eaLnBrk="0" fontAlgn="base" hangingPunct="0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5pPr>
      <a:lvl6pPr marL="457200" algn="ctr" defTabSz="3133725" rtl="0" fontAlgn="base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6pPr>
      <a:lvl7pPr marL="914400" algn="ctr" defTabSz="3133725" rtl="0" fontAlgn="base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7pPr>
      <a:lvl8pPr marL="1371600" algn="ctr" defTabSz="3133725" rtl="0" fontAlgn="base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8pPr>
      <a:lvl9pPr marL="1828800" algn="ctr" defTabSz="3133725" rtl="0" fontAlgn="base">
        <a:spcBef>
          <a:spcPct val="0"/>
        </a:spcBef>
        <a:spcAft>
          <a:spcPct val="0"/>
        </a:spcAft>
        <a:defRPr sz="15100">
          <a:solidFill>
            <a:schemeClr val="tx1"/>
          </a:solidFill>
          <a:latin typeface="Calibri" pitchFamily="34" charset="0"/>
        </a:defRPr>
      </a:lvl9pPr>
    </p:titleStyle>
    <p:bodyStyle>
      <a:lvl1pPr marL="1174750" indent="-1174750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46350" indent="-979488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3917950" indent="-782638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4813" indent="-782638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7053263" indent="-782638" algn="l" defTabSz="31337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621306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188816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1756327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323837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1pPr>
      <a:lvl2pPr marL="156751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2pPr>
      <a:lvl3pPr marL="313502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3pPr>
      <a:lvl4pPr marL="470253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4pPr>
      <a:lvl5pPr marL="627004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5pPr>
      <a:lvl6pPr marL="783755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6pPr>
      <a:lvl7pPr marL="940506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57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0082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5">
            <a:extLst>
              <a:ext uri="{FF2B5EF4-FFF2-40B4-BE49-F238E27FC236}">
                <a16:creationId xmlns:a16="http://schemas.microsoft.com/office/drawing/2014/main" id="{A6110D05-739F-34DF-1631-9F069DFA9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6462" y="207169"/>
            <a:ext cx="16459200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sz="5200" b="1" dirty="0"/>
              <a:t>Objective Head-Related Transfer Function Evaluation Metrics for More Consistent Perceptual Assessment</a:t>
            </a:r>
          </a:p>
        </p:txBody>
      </p:sp>
      <p:sp>
        <p:nvSpPr>
          <p:cNvPr id="2051" name="TextBox 9">
            <a:extLst>
              <a:ext uri="{FF2B5EF4-FFF2-40B4-BE49-F238E27FC236}">
                <a16:creationId xmlns:a16="http://schemas.microsoft.com/office/drawing/2014/main" id="{595776BA-6670-69D7-0DDE-7C6497CD1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3281" y="2028342"/>
            <a:ext cx="261318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sz="3600" b="0" dirty="0"/>
              <a:t>Shanghao Zou,  Dr. Baha Ihnaini</a:t>
            </a:r>
          </a:p>
        </p:txBody>
      </p:sp>
      <p:sp>
        <p:nvSpPr>
          <p:cNvPr id="2052" name="TextBox 10">
            <a:extLst>
              <a:ext uri="{FF2B5EF4-FFF2-40B4-BE49-F238E27FC236}">
                <a16:creationId xmlns:a16="http://schemas.microsoft.com/office/drawing/2014/main" id="{5AA3DFD6-9F53-E8B7-3E62-FBC76B229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3281" y="2920517"/>
            <a:ext cx="261318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sz="3000" b="0" dirty="0"/>
              <a:t>Department of Computer Science and Technology, Wenzhou-Kean University, Wenzhou, China</a:t>
            </a:r>
          </a:p>
        </p:txBody>
      </p:sp>
      <p:sp>
        <p:nvSpPr>
          <p:cNvPr id="2053" name="TextBox 12">
            <a:extLst>
              <a:ext uri="{FF2B5EF4-FFF2-40B4-BE49-F238E27FC236}">
                <a16:creationId xmlns:a16="http://schemas.microsoft.com/office/drawing/2014/main" id="{7969E1F6-14D8-BDA1-FF19-B739FD8B4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4549775"/>
            <a:ext cx="10033000" cy="64944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2863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sz="2600" b="0" dirty="0"/>
              <a:t>HRTFs are acoustic filters encoding how anatomy (head, pinnae, torso) transforms sound — the cornerstone of spatial audio rendering over headphones.</a:t>
            </a:r>
          </a:p>
          <a:p>
            <a:pPr>
              <a:buNone/>
            </a:pPr>
            <a:r>
              <a:rPr sz="2600" b="0" dirty="0"/>
              <a:t>The industry-standard metric, Log-Spectral Distortion (LSD), operates only in the magnitude domain and poorly predicts perceptual quality.</a:t>
            </a:r>
          </a:p>
          <a:p>
            <a:pPr>
              <a:buNone/>
            </a:pPr>
            <a:r>
              <a:rPr sz="2600" b="0" dirty="0"/>
              <a:t>The "LSD Blindspot": </a:t>
            </a:r>
            <a:r>
              <a:rPr sz="2600" b="0" dirty="0" err="1"/>
              <a:t>Andreopoulou</a:t>
            </a:r>
            <a:r>
              <a:rPr sz="2600" b="0" dirty="0"/>
              <a:t> &amp; Katz (2022) demonstrated that minimum-phase reconstruction achieves LSD &lt; 1 dB ("perfect" by industry standards) yet caused massive subjective decorrelation (r ≈ 0.5), inverting quality rankings for ~18% of HRTFs.</a:t>
            </a:r>
          </a:p>
          <a:p>
            <a:pPr>
              <a:buNone/>
            </a:pPr>
            <a:r>
              <a:rPr sz="2600" b="0" dirty="0"/>
              <a:t>LSD fails because: (1) it is blind to phase information; (2) it is monaural, missing binaural cues; (3) it weights all frequencies equally, ignoring perceptually critical pinna notch regions (4-12 kHz).</a:t>
            </a:r>
          </a:p>
          <a:p>
            <a:pPr>
              <a:buNone/>
            </a:pPr>
            <a:r>
              <a:rPr sz="2600" b="0" dirty="0"/>
              <a:t>This thesis proposes a Composite Perceptual Metric (CPM) combining LSD, ILD error, Group Delay error, and ITD error into a single weighted score that captures both magnitude and phase degradations.</a:t>
            </a:r>
          </a:p>
        </p:txBody>
      </p:sp>
      <p:sp>
        <p:nvSpPr>
          <p:cNvPr id="2054" name="TextBox 15">
            <a:extLst>
              <a:ext uri="{FF2B5EF4-FFF2-40B4-BE49-F238E27FC236}">
                <a16:creationId xmlns:a16="http://schemas.microsoft.com/office/drawing/2014/main" id="{805B76B2-3CD8-01E4-2CF5-7BE603878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2400" y="4549775"/>
            <a:ext cx="10347325" cy="78729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sz="2600" b="1" dirty="0"/>
              <a:t>Central Finding: Minimum-phase reconstruction achieves the LOWEST LSD (0.030 dB) of all conditions yet produces the HIGHEST CPM (14.094) — over 5× higher than the next worst condition.</a:t>
            </a:r>
          </a:p>
          <a:p>
            <a:pPr>
              <a:buNone/>
            </a:pPr>
            <a:r>
              <a:rPr sz="2600" b="0" dirty="0"/>
              <a:t>Metric Results Table (mean ± std, n=20 subjects):</a:t>
            </a:r>
          </a:p>
          <a:p>
            <a:pPr>
              <a:buNone/>
            </a:pPr>
            <a:r>
              <a:rPr sz="2400" b="0" dirty="0"/>
              <a:t>Condition         | LSD (dB)        | ILD Err (dB)    | GD Err (</a:t>
            </a:r>
            <a:r>
              <a:rPr sz="2400" b="0" dirty="0" err="1"/>
              <a:t>ms</a:t>
            </a:r>
            <a:r>
              <a:rPr sz="2400" b="0" dirty="0"/>
              <a:t>)     | CPM</a:t>
            </a:r>
          </a:p>
          <a:p>
            <a:pPr>
              <a:buNone/>
            </a:pPr>
            <a:r>
              <a:rPr sz="2400" b="0" dirty="0"/>
              <a:t>Min-Phase         | 0.030 ± 0.007   | 0.058 ± 0.014   | 2.335 ± 0.178   | 14.094 ± 1.29</a:t>
            </a:r>
          </a:p>
          <a:p>
            <a:pPr>
              <a:buNone/>
            </a:pPr>
            <a:r>
              <a:rPr sz="2400" b="0" dirty="0"/>
              <a:t>1/3-Oct Smooth  | 2.332 ± 0.204   | 3.122 ± 0.241   | 0.176 ± 0.018   | 1.880 ± 0.15</a:t>
            </a:r>
          </a:p>
          <a:p>
            <a:pPr>
              <a:buNone/>
            </a:pPr>
            <a:r>
              <a:rPr sz="2400" b="0" dirty="0"/>
              <a:t>1/1-Oct Smooth  | 3.829 ± 0.265   | 4.562 ± 0.284   | 0.209 ± 0.017   | 2.592 ± 0.12</a:t>
            </a:r>
          </a:p>
          <a:p>
            <a:pPr>
              <a:buNone/>
            </a:pPr>
            <a:r>
              <a:rPr sz="2400" b="0" dirty="0"/>
              <a:t>12-bit Quant.     | 0.140 ± 0.032   | 0.238 ± 0.054   | 0.060 ± 0.012   | 0.352 ± 0.07</a:t>
            </a:r>
          </a:p>
          <a:p>
            <a:pPr>
              <a:buNone/>
            </a:pPr>
            <a:r>
              <a:rPr sz="2400" b="0" dirty="0"/>
              <a:t>8-bit Quant.      | 1.065 ± 0.213   | 1.730 ± 0.332   | 0.202 ± 0.029   | 1.503 ± 0.24</a:t>
            </a:r>
          </a:p>
          <a:p>
            <a:pPr>
              <a:buNone/>
            </a:pPr>
            <a:r>
              <a:rPr sz="2600" b="0" dirty="0"/>
              <a:t>Group Delay Error: at 2.335 </a:t>
            </a:r>
            <a:r>
              <a:rPr sz="2600" b="0" dirty="0" err="1"/>
              <a:t>ms</a:t>
            </a:r>
            <a:r>
              <a:rPr sz="2600" b="0" dirty="0"/>
              <a:t>, min-phase GD error is 11–39× larger than any other condition, driving the extreme CPM score.</a:t>
            </a:r>
          </a:p>
          <a:p>
            <a:pPr>
              <a:buNone/>
            </a:pPr>
            <a:r>
              <a:rPr sz="2600" b="0" dirty="0"/>
              <a:t>For the four non-minimum-phase conditions, CPM increases monotonically with degradation severity (12-bit &lt; 8-bit &lt; 1/3-oct &lt; 1/1-oct), confirming CPM retains sensitivity to magnitude-domain distortions.</a:t>
            </a:r>
          </a:p>
          <a:p>
            <a:pPr>
              <a:buNone/>
            </a:pPr>
            <a:r>
              <a:rPr sz="2600" b="0" dirty="0"/>
              <a:t>The LSD vs. CPM scatter plot (Figure 2) reveals the fundamental divergence: min-phase sits at LSD ≈ 0 but CPM ≈ 14, far from the diagonal — empirical proof of the LSD </a:t>
            </a:r>
            <a:r>
              <a:rPr sz="2600" b="0" dirty="0" err="1"/>
              <a:t>blindspot</a:t>
            </a:r>
            <a:r>
              <a:rPr sz="2600" b="0" dirty="0"/>
              <a:t>.</a:t>
            </a:r>
          </a:p>
        </p:txBody>
      </p:sp>
      <p:sp>
        <p:nvSpPr>
          <p:cNvPr id="2055" name="TextBox 16">
            <a:extLst>
              <a:ext uri="{FF2B5EF4-FFF2-40B4-BE49-F238E27FC236}">
                <a16:creationId xmlns:a16="http://schemas.microsoft.com/office/drawing/2014/main" id="{7795E9E1-7975-DFF7-2E9F-732C143CA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05988" y="7945752"/>
            <a:ext cx="9802812" cy="90547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sz="2600" b="0" dirty="0"/>
              <a:t>1. LSD Blindspot Confirmed: Minimum-phase reconstruction achieves LSD = 0.030 dB (best of all conditions) yet CPM = 14.094 (worst). This provides empirical support for </a:t>
            </a:r>
            <a:r>
              <a:rPr sz="2600" b="0" dirty="0" err="1"/>
              <a:t>Andreopoulou</a:t>
            </a:r>
            <a:r>
              <a:rPr sz="2600" b="0" dirty="0"/>
              <a:t> &amp; Katz (2022) on an independent database.</a:t>
            </a:r>
          </a:p>
          <a:p>
            <a:pPr>
              <a:buNone/>
            </a:pPr>
            <a:r>
              <a:rPr sz="2600" b="0" dirty="0"/>
              <a:t>2. Group Delay Error is the Key Discriminator: At 2.335 </a:t>
            </a:r>
            <a:r>
              <a:rPr sz="2600" b="0" dirty="0" err="1"/>
              <a:t>ms</a:t>
            </a:r>
            <a:r>
              <a:rPr sz="2600" b="0" dirty="0"/>
              <a:t> — over 10× larger than any other condition — it is the component that catches what LSD misses.</a:t>
            </a:r>
          </a:p>
          <a:p>
            <a:pPr>
              <a:buNone/>
            </a:pPr>
            <a:r>
              <a:rPr sz="2600" b="0" dirty="0"/>
              <a:t>3. CPM Captures Both Domains: For non-phase-altering conditions, CPM monotonically tracks degradation severity, confirming it does not sacrifice magnitude sensitivity.</a:t>
            </a:r>
          </a:p>
          <a:p>
            <a:pPr>
              <a:buNone/>
            </a:pPr>
            <a:r>
              <a:rPr sz="2600" b="1" dirty="0"/>
              <a:t>Limitations</a:t>
            </a:r>
            <a:endParaRPr lang="en-US" sz="2600" b="1" dirty="0"/>
          </a:p>
          <a:p>
            <a:pPr>
              <a:buNone/>
            </a:pPr>
            <a:r>
              <a:rPr sz="2600" b="0" dirty="0"/>
              <a:t>No subjective listening tests conducted</a:t>
            </a:r>
            <a:endParaRPr lang="en-US" sz="2600" dirty="0"/>
          </a:p>
          <a:p>
            <a:pPr>
              <a:buNone/>
            </a:pPr>
            <a:r>
              <a:rPr sz="2600" b="0" dirty="0"/>
              <a:t>CPM weights are heuristic (JND-based)</a:t>
            </a:r>
            <a:endParaRPr lang="en-US" sz="2600" b="0" dirty="0"/>
          </a:p>
          <a:p>
            <a:pPr>
              <a:buNone/>
            </a:pPr>
            <a:r>
              <a:rPr sz="2600" b="0" dirty="0"/>
              <a:t>only 20 of 51 subjects used.</a:t>
            </a:r>
          </a:p>
          <a:p>
            <a:pPr>
              <a:buNone/>
            </a:pPr>
            <a:r>
              <a:rPr sz="2600" b="1" dirty="0"/>
              <a:t>Future Work</a:t>
            </a:r>
            <a:endParaRPr lang="en-US" sz="2600" b="1" dirty="0"/>
          </a:p>
          <a:p>
            <a:pPr>
              <a:buNone/>
            </a:pPr>
            <a:r>
              <a:rPr sz="2600" b="0" dirty="0"/>
              <a:t>MUSHRA subjective validation</a:t>
            </a:r>
            <a:endParaRPr lang="en-US" sz="2600" dirty="0"/>
          </a:p>
          <a:p>
            <a:pPr>
              <a:buNone/>
            </a:pPr>
            <a:r>
              <a:rPr sz="2600" b="0" dirty="0"/>
              <a:t>SADIE II cross-validation</a:t>
            </a:r>
            <a:endParaRPr lang="en-US" sz="2600" dirty="0"/>
          </a:p>
          <a:p>
            <a:pPr>
              <a:buNone/>
            </a:pPr>
            <a:r>
              <a:rPr lang="en-US" sz="2600" dirty="0"/>
              <a:t>E</a:t>
            </a:r>
            <a:r>
              <a:rPr sz="2600" b="0" dirty="0"/>
              <a:t>mpirical CPM weight optimization</a:t>
            </a:r>
            <a:endParaRPr lang="en-US" sz="2600" dirty="0"/>
          </a:p>
          <a:p>
            <a:pPr>
              <a:buNone/>
            </a:pPr>
            <a:r>
              <a:rPr sz="2600" b="0" dirty="0"/>
              <a:t>CPM as ML training loss function</a:t>
            </a:r>
            <a:endParaRPr lang="en-US" sz="2600" dirty="0"/>
          </a:p>
          <a:p>
            <a:pPr>
              <a:buNone/>
            </a:pPr>
            <a:r>
              <a:rPr lang="en-US" sz="2600" b="0" dirty="0"/>
              <a:t>F</a:t>
            </a:r>
            <a:r>
              <a:rPr sz="2600" b="0" dirty="0"/>
              <a:t>requency-dependent weighting for pinna notch region (4-12 kHz).</a:t>
            </a:r>
          </a:p>
        </p:txBody>
      </p:sp>
      <p:sp>
        <p:nvSpPr>
          <p:cNvPr id="2056" name="TextBox 17">
            <a:extLst>
              <a:ext uri="{FF2B5EF4-FFF2-40B4-BE49-F238E27FC236}">
                <a16:creationId xmlns:a16="http://schemas.microsoft.com/office/drawing/2014/main" id="{B2A6B01C-9D4F-CC86-41F0-5662CF0ED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11752263"/>
            <a:ext cx="10033000" cy="85746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sz="2600" b="0" dirty="0"/>
              <a:t>Dataset: RIEC HRTF Database (Tohoku University) — 20 subjects (10M/10F), 865 spatial positions each, 512-sample HRIRs at 48 kHz (SOFA format).</a:t>
            </a:r>
          </a:p>
          <a:p>
            <a:pPr>
              <a:buNone/>
            </a:pPr>
            <a:r>
              <a:rPr sz="2600" b="1" dirty="0"/>
              <a:t>Five Degradation Conditions applied as targeted metric stress-tests:</a:t>
            </a:r>
          </a:p>
          <a:p>
            <a:pPr>
              <a:buNone/>
            </a:pPr>
            <a:r>
              <a:rPr sz="2600" b="0" dirty="0"/>
              <a:t>A. Minimum-Phase Reconstruction — real-</a:t>
            </a:r>
            <a:r>
              <a:rPr sz="2600" b="0" dirty="0" err="1"/>
              <a:t>cepstrum</a:t>
            </a:r>
            <a:r>
              <a:rPr sz="2600" b="0" dirty="0"/>
              <a:t> method; preserves magnitude, destroys phase. ITD re-inserted via onset detection.</a:t>
            </a:r>
          </a:p>
          <a:p>
            <a:pPr>
              <a:buNone/>
            </a:pPr>
            <a:r>
              <a:rPr sz="2600" b="0" dirty="0"/>
              <a:t>B. 1/3-Octave Magnitude Smoothing — mild spectral detail loss, phase preserved.</a:t>
            </a:r>
          </a:p>
          <a:p>
            <a:pPr>
              <a:buNone/>
            </a:pPr>
            <a:r>
              <a:rPr sz="2600" b="0" dirty="0"/>
              <a:t>C. 1/1-Octave Magnitude Smoothing — aggressive smoothing, obliterates pinna notches.</a:t>
            </a:r>
          </a:p>
          <a:p>
            <a:pPr>
              <a:buNone/>
            </a:pPr>
            <a:r>
              <a:rPr sz="2600" b="0" dirty="0"/>
              <a:t>D. 12-bit Quantization — broadband noise floor ~-72 dB; minimal distortion.</a:t>
            </a:r>
          </a:p>
          <a:p>
            <a:pPr>
              <a:buNone/>
            </a:pPr>
            <a:r>
              <a:rPr sz="2600" b="0" dirty="0"/>
              <a:t>E. 8-bit Quantization — severe noise floor ~-48 dB; clearly audible.</a:t>
            </a:r>
          </a:p>
          <a:p>
            <a:pPr>
              <a:buNone/>
            </a:pPr>
            <a:r>
              <a:rPr sz="2600" b="1" dirty="0"/>
              <a:t>Four Metrics computed per subject-condition pair (200–16,000 Hz):</a:t>
            </a:r>
          </a:p>
          <a:p>
            <a:pPr>
              <a:buNone/>
            </a:pPr>
            <a:r>
              <a:rPr sz="2600" b="0" dirty="0"/>
              <a:t>LSD (dB) | ILD Error (dB) | Group Delay Error (</a:t>
            </a:r>
            <a:r>
              <a:rPr sz="2600" b="0" dirty="0" err="1"/>
              <a:t>ms</a:t>
            </a:r>
            <a:r>
              <a:rPr sz="2600" b="0" dirty="0"/>
              <a:t>) | ITD Error (</a:t>
            </a:r>
            <a:r>
              <a:rPr sz="2600" b="0" dirty="0" err="1"/>
              <a:t>ms</a:t>
            </a:r>
            <a:r>
              <a:rPr sz="2600" b="0" dirty="0"/>
              <a:t>)</a:t>
            </a:r>
          </a:p>
          <a:p>
            <a:pPr>
              <a:buNone/>
            </a:pPr>
            <a:r>
              <a:rPr sz="2600" b="0" dirty="0"/>
              <a:t>CPM = 0.20·LSD/2.0 + 0.25·ILDerr/1.0 + 0.35·GDerr/0.08 + 0.20·ITDerr/0.03</a:t>
            </a:r>
          </a:p>
          <a:p>
            <a:pPr>
              <a:buNone/>
            </a:pPr>
            <a:r>
              <a:rPr sz="2600" b="0" dirty="0"/>
              <a:t>Weights reflect psychoacoustic JND thresholds; </a:t>
            </a:r>
            <a:endParaRPr lang="en-US" sz="2600" b="0" dirty="0"/>
          </a:p>
          <a:p>
            <a:pPr>
              <a:buNone/>
            </a:pPr>
            <a:r>
              <a:rPr sz="2600" b="0" dirty="0"/>
              <a:t>GD receives highest weight (0.35) as phase-sensitive key discriminator.</a:t>
            </a:r>
          </a:p>
        </p:txBody>
      </p:sp>
      <p:sp>
        <p:nvSpPr>
          <p:cNvPr id="2057" name="TextBox 18">
            <a:extLst>
              <a:ext uri="{FF2B5EF4-FFF2-40B4-BE49-F238E27FC236}">
                <a16:creationId xmlns:a16="http://schemas.microsoft.com/office/drawing/2014/main" id="{0493C360-0C1E-3B18-48AE-A50CF4A1B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88538" y="17802225"/>
            <a:ext cx="9720262" cy="3540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sz="2200" b="0"/>
              <a:t>[1] Andreopoulou &amp; Katz. JAES 70(5):340-354, 2022.</a:t>
            </a:r>
          </a:p>
          <a:p>
            <a:r>
              <a:rPr sz="2200" b="0"/>
              <a:t>[2] Gebru et al. arXiv:2508.10924, 2025.</a:t>
            </a:r>
          </a:p>
          <a:p>
            <a:r>
              <a:rPr sz="2200" b="0"/>
              <a:t>[3] Armstrong et al. JASA 156(6):4133-4152, 2024.</a:t>
            </a:r>
          </a:p>
          <a:p>
            <a:r>
              <a:rPr sz="2200" b="0"/>
              <a:t>[4] Panah et al. arXiv:2505.11915, 2025.</a:t>
            </a:r>
          </a:p>
          <a:p>
            <a:r>
              <a:rPr sz="2200" b="0"/>
              <a:t>[5] Ananthabhotla et al. JASA Express Letters, 1(4), 2021.</a:t>
            </a:r>
          </a:p>
          <a:p>
            <a:r>
              <a:rPr sz="2200" b="0"/>
              <a:t>[6] Watanabe et al. RIEC HRTF Database, Tohoku Univ., 2014.</a:t>
            </a:r>
          </a:p>
          <a:p>
            <a:r>
              <a:rPr sz="2200" b="0"/>
              <a:t>[7] Kistler &amp; Wightman. JASA 91(3):1637-1647, 1992.</a:t>
            </a:r>
          </a:p>
          <a:p>
            <a:r>
              <a:rPr sz="2200" b="0"/>
              <a:t>[8] Zhang et al. arXiv:2507.02815, 2025.</a:t>
            </a:r>
          </a:p>
        </p:txBody>
      </p:sp>
      <p:sp>
        <p:nvSpPr>
          <p:cNvPr id="2058" name="TextBox 1">
            <a:extLst>
              <a:ext uri="{FF2B5EF4-FFF2-40B4-BE49-F238E27FC236}">
                <a16:creationId xmlns:a16="http://schemas.microsoft.com/office/drawing/2014/main" id="{3006D258-17C5-0720-1A04-CDFED7939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3725863"/>
            <a:ext cx="10053637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/>
              <a:t>Introduction</a:t>
            </a:r>
          </a:p>
        </p:txBody>
      </p:sp>
      <p:sp>
        <p:nvSpPr>
          <p:cNvPr id="2059" name="TextBox 13">
            <a:extLst>
              <a:ext uri="{FF2B5EF4-FFF2-40B4-BE49-F238E27FC236}">
                <a16:creationId xmlns:a16="http://schemas.microsoft.com/office/drawing/2014/main" id="{AE604548-2659-5C21-478F-2AE4E4CAF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11044238"/>
            <a:ext cx="100536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 dirty="0"/>
              <a:t>Methods and Materials</a:t>
            </a:r>
          </a:p>
        </p:txBody>
      </p:sp>
      <p:sp>
        <p:nvSpPr>
          <p:cNvPr id="2060" name="TextBox 14">
            <a:extLst>
              <a:ext uri="{FF2B5EF4-FFF2-40B4-BE49-F238E27FC236}">
                <a16:creationId xmlns:a16="http://schemas.microsoft.com/office/drawing/2014/main" id="{CB7C42C9-4D79-D68A-FF31-007C1A230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0038" y="3725863"/>
            <a:ext cx="1005205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/>
              <a:t>Results</a:t>
            </a:r>
          </a:p>
        </p:txBody>
      </p:sp>
      <p:sp>
        <p:nvSpPr>
          <p:cNvPr id="2061" name="TextBox 19">
            <a:extLst>
              <a:ext uri="{FF2B5EF4-FFF2-40B4-BE49-F238E27FC236}">
                <a16:creationId xmlns:a16="http://schemas.microsoft.com/office/drawing/2014/main" id="{E02F9CAB-84DA-2822-521B-088095AA7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0575" y="7207992"/>
            <a:ext cx="10053638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 dirty="0"/>
              <a:t>Conclusions</a:t>
            </a:r>
          </a:p>
        </p:txBody>
      </p:sp>
      <p:sp>
        <p:nvSpPr>
          <p:cNvPr id="2062" name="TextBox 20">
            <a:extLst>
              <a:ext uri="{FF2B5EF4-FFF2-40B4-BE49-F238E27FC236}">
                <a16:creationId xmlns:a16="http://schemas.microsoft.com/office/drawing/2014/main" id="{0487CD24-6D6D-6493-1CCD-CE3D035DA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88538" y="17000538"/>
            <a:ext cx="100520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1337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/>
              <a:t>References</a:t>
            </a:r>
          </a:p>
        </p:txBody>
      </p:sp>
      <p:pic>
        <p:nvPicPr>
          <p:cNvPr id="2063" name="图片 3" descr="Kean_Seal-2018">
            <a:extLst>
              <a:ext uri="{FF2B5EF4-FFF2-40B4-BE49-F238E27FC236}">
                <a16:creationId xmlns:a16="http://schemas.microsoft.com/office/drawing/2014/main" id="{BFE63F41-966B-EBF1-A6C0-18D7F6398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457200"/>
            <a:ext cx="30003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FCDD4A-A9B4-269B-9D7A-45FB3FD6C8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0038" y="12540174"/>
            <a:ext cx="10124390" cy="4601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1F4992-F912-518F-6689-A2F6211328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2826" y="17395825"/>
            <a:ext cx="5011602" cy="41763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BAC0BA-399D-8ACB-B054-E6498B4F6D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326" y="17779034"/>
            <a:ext cx="5269698" cy="3513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29C804-C1B4-4530-C4A1-EA5BBAB381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6430" y="4372996"/>
            <a:ext cx="6721928" cy="29875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920</Words>
  <Application>Microsoft Office PowerPoint</Application>
  <PresentationFormat>Custom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Christina Z.  Luna</dc:creator>
  <cp:lastModifiedBy>上豪 邹</cp:lastModifiedBy>
  <cp:revision>13</cp:revision>
  <dcterms:created xsi:type="dcterms:W3CDTF">2013-01-23T15:34:07Z</dcterms:created>
  <dcterms:modified xsi:type="dcterms:W3CDTF">2026-04-21T15:38:12Z</dcterms:modified>
</cp:coreProperties>
</file>