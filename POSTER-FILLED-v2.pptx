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sldIdLst>
    <p:sldId id="256" r:id="rId2"/>
  </p:sldIdLst>
  <p:sldSz cx="32918400" cy="21945600"/>
  <p:notesSz cx="6858000" cy="9144000"/>
  <p:defaultTextStyle>
    <a:defPPr>
      <a:defRPr lang="en-US"/>
    </a:defPPr>
    <a:lvl1pPr algn="l" defTabSz="3133725" rtl="0" eaLnBrk="0" fontAlgn="base" hangingPunct="0">
      <a:spcBef>
        <a:spcPct val="0"/>
      </a:spcBef>
      <a:spcAft>
        <a:spcPct val="0"/>
      </a:spcAft>
      <a:defRPr sz="6200"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1566863" indent="-1109663" algn="l" defTabSz="3133725" rtl="0" eaLnBrk="0" fontAlgn="base" hangingPunct="0">
      <a:spcBef>
        <a:spcPct val="0"/>
      </a:spcBef>
      <a:spcAft>
        <a:spcPct val="0"/>
      </a:spcAft>
      <a:defRPr sz="6200"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3133725" indent="-2219325" algn="l" defTabSz="3133725" rtl="0" eaLnBrk="0" fontAlgn="base" hangingPunct="0">
      <a:spcBef>
        <a:spcPct val="0"/>
      </a:spcBef>
      <a:spcAft>
        <a:spcPct val="0"/>
      </a:spcAft>
      <a:defRPr sz="6200"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4702175" indent="-3330575" algn="l" defTabSz="3133725" rtl="0" eaLnBrk="0" fontAlgn="base" hangingPunct="0">
      <a:spcBef>
        <a:spcPct val="0"/>
      </a:spcBef>
      <a:spcAft>
        <a:spcPct val="0"/>
      </a:spcAft>
      <a:defRPr sz="6200"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6269038" indent="-4440238" algn="l" defTabSz="3133725" rtl="0" eaLnBrk="0" fontAlgn="base" hangingPunct="0">
      <a:spcBef>
        <a:spcPct val="0"/>
      </a:spcBef>
      <a:spcAft>
        <a:spcPct val="0"/>
      </a:spcAft>
      <a:defRPr sz="6200"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6200"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6200"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6200"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6200"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6912">
          <p15:clr>
            <a:srgbClr val="A4A3A4"/>
          </p15:clr>
        </p15:guide>
        <p15:guide id="2" pos="103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5620"/>
    <p:restoredTop sz="94660"/>
  </p:normalViewPr>
  <p:slideViewPr>
    <p:cSldViewPr>
      <p:cViewPr varScale="1">
        <p:scale>
          <a:sx n="48" d="100"/>
          <a:sy n="48" d="100"/>
        </p:scale>
        <p:origin x="2346" y="60"/>
      </p:cViewPr>
      <p:guideLst>
        <p:guide orient="horz" pos="6912"/>
        <p:guide pos="103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0" y="6817362"/>
            <a:ext cx="27980640" cy="47040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7760" y="12435840"/>
            <a:ext cx="23042880" cy="56083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5675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135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47025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62700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78375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94050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09725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25400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23A0D-7767-EBA4-A278-9FD14D006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BBF241A-BEE4-49CE-9830-77C98A6B9292}" type="datetimeFigureOut">
              <a:rPr lang="en-US" altLang="zh-CN"/>
              <a:pPr/>
              <a:t>4/21/2026</a:t>
            </a:fld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AE964-6FE3-1AAD-F432-F38333BB4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B46F86-25B9-CE62-84A7-01EDB4740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A71DB3-B30A-4CB5-9626-683239C15AA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3910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408D02-1C5F-4790-6F15-79E57A3DD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52A4721-5FA3-4C7F-A533-91AD83EAC035}" type="datetimeFigureOut">
              <a:rPr lang="en-US" altLang="zh-CN"/>
              <a:pPr/>
              <a:t>4/21/2026</a:t>
            </a:fld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CFCD8E-C3C5-4FEE-D54B-FD8AE6914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9AC6FD-6AB0-F0BF-6E3E-041AF63AF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BC7E2C-D4D0-45B7-9ED6-09BD38F26BF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5881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0327" y="14102082"/>
            <a:ext cx="27980640" cy="4358640"/>
          </a:xfrm>
        </p:spPr>
        <p:txBody>
          <a:bodyPr anchor="t"/>
          <a:lstStyle>
            <a:lvl1pPr algn="l">
              <a:defRPr sz="137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0327" y="9301483"/>
            <a:ext cx="27980640" cy="4800598"/>
          </a:xfrm>
        </p:spPr>
        <p:txBody>
          <a:bodyPr anchor="b"/>
          <a:lstStyle>
            <a:lvl1pPr marL="0" indent="0">
              <a:buNone/>
              <a:defRPr sz="6900">
                <a:solidFill>
                  <a:schemeClr val="tx1">
                    <a:tint val="75000"/>
                  </a:schemeClr>
                </a:solidFill>
              </a:defRPr>
            </a:lvl1pPr>
            <a:lvl2pPr marL="1567510" indent="0">
              <a:buNone/>
              <a:defRPr sz="6200">
                <a:solidFill>
                  <a:schemeClr val="tx1">
                    <a:tint val="75000"/>
                  </a:schemeClr>
                </a:solidFill>
              </a:defRPr>
            </a:lvl2pPr>
            <a:lvl3pPr marL="3135020" indent="0">
              <a:buNone/>
              <a:defRPr sz="5500">
                <a:solidFill>
                  <a:schemeClr val="tx1">
                    <a:tint val="75000"/>
                  </a:schemeClr>
                </a:solidFill>
              </a:defRPr>
            </a:lvl3pPr>
            <a:lvl4pPr marL="4702531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4pPr>
            <a:lvl5pPr marL="6270041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5pPr>
            <a:lvl6pPr marL="7837551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9405061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10972571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12540082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7031D-43C7-59B0-6A52-1A4D186D5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CA7F9F8-FB4F-4F6A-978B-B003158CB803}" type="datetimeFigureOut">
              <a:rPr lang="en-US" altLang="zh-CN"/>
              <a:pPr/>
              <a:t>4/21/2026</a:t>
            </a:fld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32D9D-AAC9-1C77-5225-34D966CDE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3D81AA-7073-A871-48FE-8E23F82F5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287312-E14A-446A-AE78-B11924E0E82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3159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45920" y="5120641"/>
            <a:ext cx="14538960" cy="14483082"/>
          </a:xfrm>
        </p:spPr>
        <p:txBody>
          <a:bodyPr/>
          <a:lstStyle>
            <a:lvl1pPr>
              <a:defRPr sz="9600"/>
            </a:lvl1pPr>
            <a:lvl2pPr>
              <a:defRPr sz="8200"/>
            </a:lvl2pPr>
            <a:lvl3pPr>
              <a:defRPr sz="6900"/>
            </a:lvl3pPr>
            <a:lvl4pPr>
              <a:defRPr sz="6200"/>
            </a:lvl4pPr>
            <a:lvl5pPr>
              <a:defRPr sz="6200"/>
            </a:lvl5pPr>
            <a:lvl6pPr>
              <a:defRPr sz="6200"/>
            </a:lvl6pPr>
            <a:lvl7pPr>
              <a:defRPr sz="6200"/>
            </a:lvl7pPr>
            <a:lvl8pPr>
              <a:defRPr sz="6200"/>
            </a:lvl8pPr>
            <a:lvl9pPr>
              <a:defRPr sz="6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33520" y="5120641"/>
            <a:ext cx="14538960" cy="14483082"/>
          </a:xfrm>
        </p:spPr>
        <p:txBody>
          <a:bodyPr/>
          <a:lstStyle>
            <a:lvl1pPr>
              <a:defRPr sz="9600"/>
            </a:lvl1pPr>
            <a:lvl2pPr>
              <a:defRPr sz="8200"/>
            </a:lvl2pPr>
            <a:lvl3pPr>
              <a:defRPr sz="6900"/>
            </a:lvl3pPr>
            <a:lvl4pPr>
              <a:defRPr sz="6200"/>
            </a:lvl4pPr>
            <a:lvl5pPr>
              <a:defRPr sz="6200"/>
            </a:lvl5pPr>
            <a:lvl6pPr>
              <a:defRPr sz="6200"/>
            </a:lvl6pPr>
            <a:lvl7pPr>
              <a:defRPr sz="6200"/>
            </a:lvl7pPr>
            <a:lvl8pPr>
              <a:defRPr sz="6200"/>
            </a:lvl8pPr>
            <a:lvl9pPr>
              <a:defRPr sz="6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0927B79-3C2F-FF7D-ABF9-1AFB5F52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0341AA4-438C-49BA-9260-34F3C23A0170}" type="datetimeFigureOut">
              <a:rPr lang="en-US" altLang="zh-CN"/>
              <a:pPr/>
              <a:t>4/21/2026</a:t>
            </a:fld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C838C83-5F52-EA01-B8F0-9F859909D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C149A6C-365F-C7F6-69A2-FF1C79042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E211F2-14AE-4AAD-8477-77647354067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2304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920" y="4912362"/>
            <a:ext cx="14544677" cy="2047238"/>
          </a:xfrm>
        </p:spPr>
        <p:txBody>
          <a:bodyPr anchor="b"/>
          <a:lstStyle>
            <a:lvl1pPr marL="0" indent="0">
              <a:buNone/>
              <a:defRPr sz="8200" b="1"/>
            </a:lvl1pPr>
            <a:lvl2pPr marL="1567510" indent="0">
              <a:buNone/>
              <a:defRPr sz="6900" b="1"/>
            </a:lvl2pPr>
            <a:lvl3pPr marL="3135020" indent="0">
              <a:buNone/>
              <a:defRPr sz="6200" b="1"/>
            </a:lvl3pPr>
            <a:lvl4pPr marL="4702531" indent="0">
              <a:buNone/>
              <a:defRPr sz="5500" b="1"/>
            </a:lvl4pPr>
            <a:lvl5pPr marL="6270041" indent="0">
              <a:buNone/>
              <a:defRPr sz="5500" b="1"/>
            </a:lvl5pPr>
            <a:lvl6pPr marL="7837551" indent="0">
              <a:buNone/>
              <a:defRPr sz="5500" b="1"/>
            </a:lvl6pPr>
            <a:lvl7pPr marL="9405061" indent="0">
              <a:buNone/>
              <a:defRPr sz="5500" b="1"/>
            </a:lvl7pPr>
            <a:lvl8pPr marL="10972571" indent="0">
              <a:buNone/>
              <a:defRPr sz="5500" b="1"/>
            </a:lvl8pPr>
            <a:lvl9pPr marL="12540082" indent="0">
              <a:buNone/>
              <a:defRPr sz="55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5920" y="6959600"/>
            <a:ext cx="14544677" cy="12644122"/>
          </a:xfrm>
        </p:spPr>
        <p:txBody>
          <a:bodyPr/>
          <a:lstStyle>
            <a:lvl1pPr>
              <a:defRPr sz="8200"/>
            </a:lvl1pPr>
            <a:lvl2pPr>
              <a:defRPr sz="6900"/>
            </a:lvl2pPr>
            <a:lvl3pPr>
              <a:defRPr sz="6200"/>
            </a:lvl3pPr>
            <a:lvl4pPr>
              <a:defRPr sz="5500"/>
            </a:lvl4pPr>
            <a:lvl5pPr>
              <a:defRPr sz="5500"/>
            </a:lvl5pPr>
            <a:lvl6pPr>
              <a:defRPr sz="5500"/>
            </a:lvl6pPr>
            <a:lvl7pPr>
              <a:defRPr sz="5500"/>
            </a:lvl7pPr>
            <a:lvl8pPr>
              <a:defRPr sz="5500"/>
            </a:lvl8pPr>
            <a:lvl9pPr>
              <a:defRPr sz="5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722092" y="4912362"/>
            <a:ext cx="14550390" cy="2047238"/>
          </a:xfrm>
        </p:spPr>
        <p:txBody>
          <a:bodyPr anchor="b"/>
          <a:lstStyle>
            <a:lvl1pPr marL="0" indent="0">
              <a:buNone/>
              <a:defRPr sz="8200" b="1"/>
            </a:lvl1pPr>
            <a:lvl2pPr marL="1567510" indent="0">
              <a:buNone/>
              <a:defRPr sz="6900" b="1"/>
            </a:lvl2pPr>
            <a:lvl3pPr marL="3135020" indent="0">
              <a:buNone/>
              <a:defRPr sz="6200" b="1"/>
            </a:lvl3pPr>
            <a:lvl4pPr marL="4702531" indent="0">
              <a:buNone/>
              <a:defRPr sz="5500" b="1"/>
            </a:lvl4pPr>
            <a:lvl5pPr marL="6270041" indent="0">
              <a:buNone/>
              <a:defRPr sz="5500" b="1"/>
            </a:lvl5pPr>
            <a:lvl6pPr marL="7837551" indent="0">
              <a:buNone/>
              <a:defRPr sz="5500" b="1"/>
            </a:lvl6pPr>
            <a:lvl7pPr marL="9405061" indent="0">
              <a:buNone/>
              <a:defRPr sz="5500" b="1"/>
            </a:lvl7pPr>
            <a:lvl8pPr marL="10972571" indent="0">
              <a:buNone/>
              <a:defRPr sz="5500" b="1"/>
            </a:lvl8pPr>
            <a:lvl9pPr marL="12540082" indent="0">
              <a:buNone/>
              <a:defRPr sz="55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722092" y="6959600"/>
            <a:ext cx="14550390" cy="12644122"/>
          </a:xfrm>
        </p:spPr>
        <p:txBody>
          <a:bodyPr/>
          <a:lstStyle>
            <a:lvl1pPr>
              <a:defRPr sz="8200"/>
            </a:lvl1pPr>
            <a:lvl2pPr>
              <a:defRPr sz="6900"/>
            </a:lvl2pPr>
            <a:lvl3pPr>
              <a:defRPr sz="6200"/>
            </a:lvl3pPr>
            <a:lvl4pPr>
              <a:defRPr sz="5500"/>
            </a:lvl4pPr>
            <a:lvl5pPr>
              <a:defRPr sz="5500"/>
            </a:lvl5pPr>
            <a:lvl6pPr>
              <a:defRPr sz="5500"/>
            </a:lvl6pPr>
            <a:lvl7pPr>
              <a:defRPr sz="5500"/>
            </a:lvl7pPr>
            <a:lvl8pPr>
              <a:defRPr sz="5500"/>
            </a:lvl8pPr>
            <a:lvl9pPr>
              <a:defRPr sz="5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F5470A02-E527-4B9A-FE18-00F03F0B8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488CDE4-8774-430C-9D48-AF4508BF814E}" type="datetimeFigureOut">
              <a:rPr lang="en-US" altLang="zh-CN"/>
              <a:pPr/>
              <a:t>4/21/2026</a:t>
            </a:fld>
            <a:endParaRPr lang="en-US" altLang="zh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1A15AFB-2B8D-0D42-A212-D9D07A252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C671745-7E4F-A2BE-B741-A9BEA60EB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249586-1B67-43EA-B02C-75DB9341498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3686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FE0CB2FF-44A0-F7C2-A70D-ECAA4E321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DF5088B-73E0-4F05-8534-61655A5C0D68}" type="datetimeFigureOut">
              <a:rPr lang="en-US" altLang="zh-CN"/>
              <a:pPr/>
              <a:t>4/21/2026</a:t>
            </a:fld>
            <a:endParaRPr lang="en-US" altLang="zh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FF530DB-6CF5-6CEE-4D64-447B15261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928C390-E52B-21E5-838E-5FB26B335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B6A9D9-2818-4308-B18E-453A076C42A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8122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B13D960D-4130-C98B-211F-2D37B0A95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7D0DDB3-FBCB-4827-9DC0-A5A617405BC0}" type="datetimeFigureOut">
              <a:rPr lang="en-US" altLang="zh-CN"/>
              <a:pPr/>
              <a:t>4/21/2026</a:t>
            </a:fld>
            <a:endParaRPr lang="en-US" altLang="zh-C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D1B9257-74A0-E843-3667-B1E61F39A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940D157-9437-E425-4363-677808DD6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E452C3-702C-438A-B42E-2C338359574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5257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2" y="873760"/>
            <a:ext cx="10829927" cy="3718560"/>
          </a:xfrm>
        </p:spPr>
        <p:txBody>
          <a:bodyPr anchor="b"/>
          <a:lstStyle>
            <a:lvl1pPr algn="l">
              <a:defRPr sz="69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180" y="873761"/>
            <a:ext cx="18402300" cy="18729962"/>
          </a:xfrm>
        </p:spPr>
        <p:txBody>
          <a:bodyPr/>
          <a:lstStyle>
            <a:lvl1pPr>
              <a:defRPr sz="11000"/>
            </a:lvl1pPr>
            <a:lvl2pPr>
              <a:defRPr sz="9600"/>
            </a:lvl2pPr>
            <a:lvl3pPr>
              <a:defRPr sz="8200"/>
            </a:lvl3pPr>
            <a:lvl4pPr>
              <a:defRPr sz="6900"/>
            </a:lvl4pPr>
            <a:lvl5pPr>
              <a:defRPr sz="6900"/>
            </a:lvl5pPr>
            <a:lvl6pPr>
              <a:defRPr sz="6900"/>
            </a:lvl6pPr>
            <a:lvl7pPr>
              <a:defRPr sz="6900"/>
            </a:lvl7pPr>
            <a:lvl8pPr>
              <a:defRPr sz="6900"/>
            </a:lvl8pPr>
            <a:lvl9pPr>
              <a:defRPr sz="6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2" y="4592321"/>
            <a:ext cx="10829927" cy="15011402"/>
          </a:xfrm>
        </p:spPr>
        <p:txBody>
          <a:bodyPr/>
          <a:lstStyle>
            <a:lvl1pPr marL="0" indent="0">
              <a:buNone/>
              <a:defRPr sz="4800"/>
            </a:lvl1pPr>
            <a:lvl2pPr marL="1567510" indent="0">
              <a:buNone/>
              <a:defRPr sz="4100"/>
            </a:lvl2pPr>
            <a:lvl3pPr marL="3135020" indent="0">
              <a:buNone/>
              <a:defRPr sz="3400"/>
            </a:lvl3pPr>
            <a:lvl4pPr marL="4702531" indent="0">
              <a:buNone/>
              <a:defRPr sz="3100"/>
            </a:lvl4pPr>
            <a:lvl5pPr marL="6270041" indent="0">
              <a:buNone/>
              <a:defRPr sz="3100"/>
            </a:lvl5pPr>
            <a:lvl6pPr marL="7837551" indent="0">
              <a:buNone/>
              <a:defRPr sz="3100"/>
            </a:lvl6pPr>
            <a:lvl7pPr marL="9405061" indent="0">
              <a:buNone/>
              <a:defRPr sz="3100"/>
            </a:lvl7pPr>
            <a:lvl8pPr marL="10972571" indent="0">
              <a:buNone/>
              <a:defRPr sz="3100"/>
            </a:lvl8pPr>
            <a:lvl9pPr marL="12540082" indent="0">
              <a:buNone/>
              <a:defRPr sz="3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BDB12BB-B9C5-A47E-3F46-2E5823AE4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B967BAF-2CB0-4355-98E7-2197F075F23D}" type="datetimeFigureOut">
              <a:rPr lang="en-US" altLang="zh-CN"/>
              <a:pPr/>
              <a:t>4/21/2026</a:t>
            </a:fld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0AF47DF-5A4F-8479-62BA-8D87AD51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D03DF86-DA4D-73C7-C7D2-B8183781B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4AC5B0-4814-40D2-809B-A7006985C2E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4351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2237" y="15361920"/>
            <a:ext cx="19751040" cy="1813562"/>
          </a:xfrm>
        </p:spPr>
        <p:txBody>
          <a:bodyPr anchor="b"/>
          <a:lstStyle>
            <a:lvl1pPr algn="l">
              <a:defRPr sz="69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452237" y="1960880"/>
            <a:ext cx="19751040" cy="13167360"/>
          </a:xfrm>
        </p:spPr>
        <p:txBody>
          <a:bodyPr rtlCol="0">
            <a:normAutofit/>
          </a:bodyPr>
          <a:lstStyle>
            <a:lvl1pPr marL="0" indent="0">
              <a:buNone/>
              <a:defRPr sz="11000"/>
            </a:lvl1pPr>
            <a:lvl2pPr marL="1567510" indent="0">
              <a:buNone/>
              <a:defRPr sz="9600"/>
            </a:lvl2pPr>
            <a:lvl3pPr marL="3135020" indent="0">
              <a:buNone/>
              <a:defRPr sz="8200"/>
            </a:lvl3pPr>
            <a:lvl4pPr marL="4702531" indent="0">
              <a:buNone/>
              <a:defRPr sz="6900"/>
            </a:lvl4pPr>
            <a:lvl5pPr marL="6270041" indent="0">
              <a:buNone/>
              <a:defRPr sz="6900"/>
            </a:lvl5pPr>
            <a:lvl6pPr marL="7837551" indent="0">
              <a:buNone/>
              <a:defRPr sz="6900"/>
            </a:lvl6pPr>
            <a:lvl7pPr marL="9405061" indent="0">
              <a:buNone/>
              <a:defRPr sz="6900"/>
            </a:lvl7pPr>
            <a:lvl8pPr marL="10972571" indent="0">
              <a:buNone/>
              <a:defRPr sz="6900"/>
            </a:lvl8pPr>
            <a:lvl9pPr marL="12540082" indent="0">
              <a:buNone/>
              <a:defRPr sz="69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2237" y="17175482"/>
            <a:ext cx="19751040" cy="2575558"/>
          </a:xfrm>
        </p:spPr>
        <p:txBody>
          <a:bodyPr/>
          <a:lstStyle>
            <a:lvl1pPr marL="0" indent="0">
              <a:buNone/>
              <a:defRPr sz="4800"/>
            </a:lvl1pPr>
            <a:lvl2pPr marL="1567510" indent="0">
              <a:buNone/>
              <a:defRPr sz="4100"/>
            </a:lvl2pPr>
            <a:lvl3pPr marL="3135020" indent="0">
              <a:buNone/>
              <a:defRPr sz="3400"/>
            </a:lvl3pPr>
            <a:lvl4pPr marL="4702531" indent="0">
              <a:buNone/>
              <a:defRPr sz="3100"/>
            </a:lvl4pPr>
            <a:lvl5pPr marL="6270041" indent="0">
              <a:buNone/>
              <a:defRPr sz="3100"/>
            </a:lvl5pPr>
            <a:lvl6pPr marL="7837551" indent="0">
              <a:buNone/>
              <a:defRPr sz="3100"/>
            </a:lvl6pPr>
            <a:lvl7pPr marL="9405061" indent="0">
              <a:buNone/>
              <a:defRPr sz="3100"/>
            </a:lvl7pPr>
            <a:lvl8pPr marL="10972571" indent="0">
              <a:buNone/>
              <a:defRPr sz="3100"/>
            </a:lvl8pPr>
            <a:lvl9pPr marL="12540082" indent="0">
              <a:buNone/>
              <a:defRPr sz="3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C327F48-BE52-266B-6FBD-8C15C835C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1574395-E4B1-4E34-AD2E-07D0B1ACF632}" type="datetimeFigureOut">
              <a:rPr lang="en-US" altLang="zh-CN"/>
              <a:pPr/>
              <a:t>4/21/2026</a:t>
            </a:fld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9055543-6D1B-36F1-963D-CEBC11560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3C8B1F9-1030-C487-5A54-B208C698B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67AF00-1EFB-4B56-846D-4128AC7748E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715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43E99-14BE-C4FA-6BC2-85BA07963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F4EF1C5-8F93-4B80-9045-CEEBF0004D8C}" type="datetimeFigureOut">
              <a:rPr lang="en-US" altLang="zh-CN"/>
              <a:pPr/>
              <a:t>4/21/2026</a:t>
            </a:fld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6B1216-F3BA-2DE7-467D-FFD149D5D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9431FF-38FF-51AD-4328-8EA8FA79F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746D72-DA67-4071-B76F-C7A9B4FF31B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3984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865840" y="878843"/>
            <a:ext cx="7406640" cy="187248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45920" y="878843"/>
            <a:ext cx="21671280" cy="187248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A9859B-DBA9-4BB7-479C-40560EA49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C8EB05D-3E69-477D-AEFF-D5D6DCAA7087}" type="datetimeFigureOut">
              <a:rPr lang="en-US" altLang="zh-CN"/>
              <a:pPr/>
              <a:t>4/21/2026</a:t>
            </a:fld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9A513-F0C9-F8FA-C669-BF46A418C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039FDD-4FFD-2544-BC37-9493B708D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4ECB5A-46D6-4F70-9B86-86076723263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038484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ED96C039-EA9A-F260-9CCC-F37452769A1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646238" y="879475"/>
            <a:ext cx="29625925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13502" tIns="156751" rIns="313502" bIns="15675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AD372A3-CE4D-8504-88CF-8510DB92A54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646238" y="5121275"/>
            <a:ext cx="29625925" cy="1448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13502" tIns="156751" rIns="313502" bIns="15675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5F607-310C-BC04-3D9F-693FDF843F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46238" y="20340638"/>
            <a:ext cx="7680325" cy="1168400"/>
          </a:xfrm>
          <a:prstGeom prst="rect">
            <a:avLst/>
          </a:prstGeom>
        </p:spPr>
        <p:txBody>
          <a:bodyPr vert="horz" wrap="square" lIns="313502" tIns="156751" rIns="313502" bIns="156751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4100">
                <a:solidFill>
                  <a:srgbClr val="898989"/>
                </a:solidFill>
              </a:defRPr>
            </a:lvl1pPr>
          </a:lstStyle>
          <a:p>
            <a:fld id="{29C1AF41-CC20-40F6-A012-1BA22C409381}" type="datetimeFigureOut">
              <a:rPr lang="en-US" altLang="zh-CN"/>
              <a:pPr/>
              <a:t>4/21/2026</a:t>
            </a:fld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1B2A8D-C6C2-1853-CDF3-85830F2E1F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247438" y="20340638"/>
            <a:ext cx="10423525" cy="1168400"/>
          </a:xfrm>
          <a:prstGeom prst="rect">
            <a:avLst/>
          </a:prstGeom>
        </p:spPr>
        <p:txBody>
          <a:bodyPr vert="horz" lIns="313502" tIns="156751" rIns="313502" bIns="156751" rtlCol="0" anchor="ctr"/>
          <a:lstStyle>
            <a:lvl1pPr algn="ctr" defTabSz="3135020" eaLnBrk="1" fontAlgn="auto" hangingPunct="1">
              <a:spcBef>
                <a:spcPts val="0"/>
              </a:spcBef>
              <a:spcAft>
                <a:spcPts val="0"/>
              </a:spcAft>
              <a:defRPr sz="41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55846C-4EDF-CDAA-4489-77460F3552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591838" y="20340638"/>
            <a:ext cx="7680325" cy="1168400"/>
          </a:xfrm>
          <a:prstGeom prst="rect">
            <a:avLst/>
          </a:prstGeom>
        </p:spPr>
        <p:txBody>
          <a:bodyPr vert="horz" wrap="square" lIns="313502" tIns="156751" rIns="313502" bIns="156751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4100">
                <a:solidFill>
                  <a:srgbClr val="898989"/>
                </a:solidFill>
              </a:defRPr>
            </a:lvl1pPr>
          </a:lstStyle>
          <a:p>
            <a:fld id="{BDA66E30-2111-436D-8C6B-1B8110CED47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133725" rtl="0" eaLnBrk="0" fontAlgn="base" hangingPunct="0">
        <a:spcBef>
          <a:spcPct val="0"/>
        </a:spcBef>
        <a:spcAft>
          <a:spcPct val="0"/>
        </a:spcAft>
        <a:defRPr sz="151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3133725" rtl="0" eaLnBrk="0" fontAlgn="base" hangingPunct="0">
        <a:spcBef>
          <a:spcPct val="0"/>
        </a:spcBef>
        <a:spcAft>
          <a:spcPct val="0"/>
        </a:spcAft>
        <a:defRPr sz="15100">
          <a:solidFill>
            <a:schemeClr val="tx1"/>
          </a:solidFill>
          <a:latin typeface="Calibri" pitchFamily="34" charset="0"/>
        </a:defRPr>
      </a:lvl2pPr>
      <a:lvl3pPr algn="ctr" defTabSz="3133725" rtl="0" eaLnBrk="0" fontAlgn="base" hangingPunct="0">
        <a:spcBef>
          <a:spcPct val="0"/>
        </a:spcBef>
        <a:spcAft>
          <a:spcPct val="0"/>
        </a:spcAft>
        <a:defRPr sz="15100">
          <a:solidFill>
            <a:schemeClr val="tx1"/>
          </a:solidFill>
          <a:latin typeface="Calibri" pitchFamily="34" charset="0"/>
        </a:defRPr>
      </a:lvl3pPr>
      <a:lvl4pPr algn="ctr" defTabSz="3133725" rtl="0" eaLnBrk="0" fontAlgn="base" hangingPunct="0">
        <a:spcBef>
          <a:spcPct val="0"/>
        </a:spcBef>
        <a:spcAft>
          <a:spcPct val="0"/>
        </a:spcAft>
        <a:defRPr sz="15100">
          <a:solidFill>
            <a:schemeClr val="tx1"/>
          </a:solidFill>
          <a:latin typeface="Calibri" pitchFamily="34" charset="0"/>
        </a:defRPr>
      </a:lvl4pPr>
      <a:lvl5pPr algn="ctr" defTabSz="3133725" rtl="0" eaLnBrk="0" fontAlgn="base" hangingPunct="0">
        <a:spcBef>
          <a:spcPct val="0"/>
        </a:spcBef>
        <a:spcAft>
          <a:spcPct val="0"/>
        </a:spcAft>
        <a:defRPr sz="15100">
          <a:solidFill>
            <a:schemeClr val="tx1"/>
          </a:solidFill>
          <a:latin typeface="Calibri" pitchFamily="34" charset="0"/>
        </a:defRPr>
      </a:lvl5pPr>
      <a:lvl6pPr marL="457200" algn="ctr" defTabSz="3133725" rtl="0" fontAlgn="base">
        <a:spcBef>
          <a:spcPct val="0"/>
        </a:spcBef>
        <a:spcAft>
          <a:spcPct val="0"/>
        </a:spcAft>
        <a:defRPr sz="15100">
          <a:solidFill>
            <a:schemeClr val="tx1"/>
          </a:solidFill>
          <a:latin typeface="Calibri" pitchFamily="34" charset="0"/>
        </a:defRPr>
      </a:lvl6pPr>
      <a:lvl7pPr marL="914400" algn="ctr" defTabSz="3133725" rtl="0" fontAlgn="base">
        <a:spcBef>
          <a:spcPct val="0"/>
        </a:spcBef>
        <a:spcAft>
          <a:spcPct val="0"/>
        </a:spcAft>
        <a:defRPr sz="15100">
          <a:solidFill>
            <a:schemeClr val="tx1"/>
          </a:solidFill>
          <a:latin typeface="Calibri" pitchFamily="34" charset="0"/>
        </a:defRPr>
      </a:lvl7pPr>
      <a:lvl8pPr marL="1371600" algn="ctr" defTabSz="3133725" rtl="0" fontAlgn="base">
        <a:spcBef>
          <a:spcPct val="0"/>
        </a:spcBef>
        <a:spcAft>
          <a:spcPct val="0"/>
        </a:spcAft>
        <a:defRPr sz="15100">
          <a:solidFill>
            <a:schemeClr val="tx1"/>
          </a:solidFill>
          <a:latin typeface="Calibri" pitchFamily="34" charset="0"/>
        </a:defRPr>
      </a:lvl8pPr>
      <a:lvl9pPr marL="1828800" algn="ctr" defTabSz="3133725" rtl="0" fontAlgn="base">
        <a:spcBef>
          <a:spcPct val="0"/>
        </a:spcBef>
        <a:spcAft>
          <a:spcPct val="0"/>
        </a:spcAft>
        <a:defRPr sz="15100">
          <a:solidFill>
            <a:schemeClr val="tx1"/>
          </a:solidFill>
          <a:latin typeface="Calibri" pitchFamily="34" charset="0"/>
        </a:defRPr>
      </a:lvl9pPr>
    </p:titleStyle>
    <p:bodyStyle>
      <a:lvl1pPr marL="1174750" indent="-1174750" algn="l" defTabSz="313372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1000" kern="1200">
          <a:solidFill>
            <a:schemeClr val="tx1"/>
          </a:solidFill>
          <a:latin typeface="+mn-lt"/>
          <a:ea typeface="+mn-ea"/>
          <a:cs typeface="+mn-cs"/>
        </a:defRPr>
      </a:lvl1pPr>
      <a:lvl2pPr marL="2546350" indent="-979488" algn="l" defTabSz="313372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9600" kern="1200">
          <a:solidFill>
            <a:schemeClr val="tx1"/>
          </a:solidFill>
          <a:latin typeface="+mn-lt"/>
          <a:ea typeface="+mn-ea"/>
          <a:cs typeface="+mn-cs"/>
        </a:defRPr>
      </a:lvl2pPr>
      <a:lvl3pPr marL="3917950" indent="-782638" algn="l" defTabSz="313372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8200" kern="1200">
          <a:solidFill>
            <a:schemeClr val="tx1"/>
          </a:solidFill>
          <a:latin typeface="+mn-lt"/>
          <a:ea typeface="+mn-ea"/>
          <a:cs typeface="+mn-cs"/>
        </a:defRPr>
      </a:lvl3pPr>
      <a:lvl4pPr marL="5484813" indent="-782638" algn="l" defTabSz="313372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6900" kern="1200">
          <a:solidFill>
            <a:schemeClr val="tx1"/>
          </a:solidFill>
          <a:latin typeface="+mn-lt"/>
          <a:ea typeface="+mn-ea"/>
          <a:cs typeface="+mn-cs"/>
        </a:defRPr>
      </a:lvl4pPr>
      <a:lvl5pPr marL="7053263" indent="-782638" algn="l" defTabSz="313372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6900" kern="1200">
          <a:solidFill>
            <a:schemeClr val="tx1"/>
          </a:solidFill>
          <a:latin typeface="+mn-lt"/>
          <a:ea typeface="+mn-ea"/>
          <a:cs typeface="+mn-cs"/>
        </a:defRPr>
      </a:lvl5pPr>
      <a:lvl6pPr marL="8621306" indent="-783755" algn="l" defTabSz="3135020" rtl="0" eaLnBrk="1" latinLnBrk="0" hangingPunct="1">
        <a:spcBef>
          <a:spcPct val="20000"/>
        </a:spcBef>
        <a:buFont typeface="Arial" pitchFamily="34" charset="0"/>
        <a:buChar char="•"/>
        <a:defRPr sz="6900" kern="1200">
          <a:solidFill>
            <a:schemeClr val="tx1"/>
          </a:solidFill>
          <a:latin typeface="+mn-lt"/>
          <a:ea typeface="+mn-ea"/>
          <a:cs typeface="+mn-cs"/>
        </a:defRPr>
      </a:lvl6pPr>
      <a:lvl7pPr marL="10188816" indent="-783755" algn="l" defTabSz="3135020" rtl="0" eaLnBrk="1" latinLnBrk="0" hangingPunct="1">
        <a:spcBef>
          <a:spcPct val="20000"/>
        </a:spcBef>
        <a:buFont typeface="Arial" pitchFamily="34" charset="0"/>
        <a:buChar char="•"/>
        <a:defRPr sz="6900" kern="1200">
          <a:solidFill>
            <a:schemeClr val="tx1"/>
          </a:solidFill>
          <a:latin typeface="+mn-lt"/>
          <a:ea typeface="+mn-ea"/>
          <a:cs typeface="+mn-cs"/>
        </a:defRPr>
      </a:lvl7pPr>
      <a:lvl8pPr marL="11756327" indent="-783755" algn="l" defTabSz="3135020" rtl="0" eaLnBrk="1" latinLnBrk="0" hangingPunct="1">
        <a:spcBef>
          <a:spcPct val="20000"/>
        </a:spcBef>
        <a:buFont typeface="Arial" pitchFamily="34" charset="0"/>
        <a:buChar char="•"/>
        <a:defRPr sz="6900" kern="1200">
          <a:solidFill>
            <a:schemeClr val="tx1"/>
          </a:solidFill>
          <a:latin typeface="+mn-lt"/>
          <a:ea typeface="+mn-ea"/>
          <a:cs typeface="+mn-cs"/>
        </a:defRPr>
      </a:lvl8pPr>
      <a:lvl9pPr marL="13323837" indent="-783755" algn="l" defTabSz="3135020" rtl="0" eaLnBrk="1" latinLnBrk="0" hangingPunct="1">
        <a:spcBef>
          <a:spcPct val="20000"/>
        </a:spcBef>
        <a:buFont typeface="Arial" pitchFamily="34" charset="0"/>
        <a:buChar char="•"/>
        <a:defRPr sz="6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135020" rtl="0" eaLnBrk="1" latinLnBrk="0" hangingPunct="1">
        <a:defRPr sz="6200" kern="1200">
          <a:solidFill>
            <a:schemeClr val="tx1"/>
          </a:solidFill>
          <a:latin typeface="+mn-lt"/>
          <a:ea typeface="+mn-ea"/>
          <a:cs typeface="+mn-cs"/>
        </a:defRPr>
      </a:lvl1pPr>
      <a:lvl2pPr marL="1567510" algn="l" defTabSz="3135020" rtl="0" eaLnBrk="1" latinLnBrk="0" hangingPunct="1">
        <a:defRPr sz="6200" kern="1200">
          <a:solidFill>
            <a:schemeClr val="tx1"/>
          </a:solidFill>
          <a:latin typeface="+mn-lt"/>
          <a:ea typeface="+mn-ea"/>
          <a:cs typeface="+mn-cs"/>
        </a:defRPr>
      </a:lvl2pPr>
      <a:lvl3pPr marL="3135020" algn="l" defTabSz="3135020" rtl="0" eaLnBrk="1" latinLnBrk="0" hangingPunct="1">
        <a:defRPr sz="6200" kern="1200">
          <a:solidFill>
            <a:schemeClr val="tx1"/>
          </a:solidFill>
          <a:latin typeface="+mn-lt"/>
          <a:ea typeface="+mn-ea"/>
          <a:cs typeface="+mn-cs"/>
        </a:defRPr>
      </a:lvl3pPr>
      <a:lvl4pPr marL="4702531" algn="l" defTabSz="3135020" rtl="0" eaLnBrk="1" latinLnBrk="0" hangingPunct="1">
        <a:defRPr sz="6200" kern="1200">
          <a:solidFill>
            <a:schemeClr val="tx1"/>
          </a:solidFill>
          <a:latin typeface="+mn-lt"/>
          <a:ea typeface="+mn-ea"/>
          <a:cs typeface="+mn-cs"/>
        </a:defRPr>
      </a:lvl4pPr>
      <a:lvl5pPr marL="6270041" algn="l" defTabSz="3135020" rtl="0" eaLnBrk="1" latinLnBrk="0" hangingPunct="1">
        <a:defRPr sz="6200" kern="1200">
          <a:solidFill>
            <a:schemeClr val="tx1"/>
          </a:solidFill>
          <a:latin typeface="+mn-lt"/>
          <a:ea typeface="+mn-ea"/>
          <a:cs typeface="+mn-cs"/>
        </a:defRPr>
      </a:lvl5pPr>
      <a:lvl6pPr marL="7837551" algn="l" defTabSz="3135020" rtl="0" eaLnBrk="1" latinLnBrk="0" hangingPunct="1">
        <a:defRPr sz="6200" kern="1200">
          <a:solidFill>
            <a:schemeClr val="tx1"/>
          </a:solidFill>
          <a:latin typeface="+mn-lt"/>
          <a:ea typeface="+mn-ea"/>
          <a:cs typeface="+mn-cs"/>
        </a:defRPr>
      </a:lvl6pPr>
      <a:lvl7pPr marL="9405061" algn="l" defTabSz="3135020" rtl="0" eaLnBrk="1" latinLnBrk="0" hangingPunct="1">
        <a:defRPr sz="6200" kern="1200">
          <a:solidFill>
            <a:schemeClr val="tx1"/>
          </a:solidFill>
          <a:latin typeface="+mn-lt"/>
          <a:ea typeface="+mn-ea"/>
          <a:cs typeface="+mn-cs"/>
        </a:defRPr>
      </a:lvl7pPr>
      <a:lvl8pPr marL="10972571" algn="l" defTabSz="3135020" rtl="0" eaLnBrk="1" latinLnBrk="0" hangingPunct="1">
        <a:defRPr sz="6200" kern="1200">
          <a:solidFill>
            <a:schemeClr val="tx1"/>
          </a:solidFill>
          <a:latin typeface="+mn-lt"/>
          <a:ea typeface="+mn-ea"/>
          <a:cs typeface="+mn-cs"/>
        </a:defRPr>
      </a:lvl8pPr>
      <a:lvl9pPr marL="12540082" algn="l" defTabSz="3135020" rtl="0" eaLnBrk="1" latinLnBrk="0" hangingPunct="1">
        <a:defRPr sz="6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Box 5">
            <a:extLst>
              <a:ext uri="{FF2B5EF4-FFF2-40B4-BE49-F238E27FC236}">
                <a16:creationId xmlns:a16="http://schemas.microsoft.com/office/drawing/2014/main" id="{A6110D05-739F-34DF-1631-9F069DFA91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352425"/>
            <a:ext cx="256032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1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9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8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sz="5400" b="1" i="0">
                <a:solidFill>
                  <a:srgbClr val="FFFFFF"/>
                </a:solidFill>
              </a:rPr>
              <a:t>Objective Head-Related Transfer Function Evaluation Metrics for More Consistent Perceptual Assessment</a:t>
            </a:r>
          </a:p>
        </p:txBody>
      </p:sp>
      <p:sp>
        <p:nvSpPr>
          <p:cNvPr id="2051" name="TextBox 9">
            <a:extLst>
              <a:ext uri="{FF2B5EF4-FFF2-40B4-BE49-F238E27FC236}">
                <a16:creationId xmlns:a16="http://schemas.microsoft.com/office/drawing/2014/main" id="{595776BA-6670-69D7-0DDE-7C6497CD1B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2763" y="1651000"/>
            <a:ext cx="26131837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1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9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8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sz="3800" b="1" i="0"/>
              <a:t>Shanghao Zou</a:t>
            </a:r>
            <a:r>
              <a:rPr sz="3400" b="0" i="0"/>
              <a:t>    |    Supervisor: </a:t>
            </a:r>
            <a:r>
              <a:rPr sz="3800" b="1" i="0"/>
              <a:t>Dr. Baha Ihnaini</a:t>
            </a:r>
          </a:p>
        </p:txBody>
      </p:sp>
      <p:sp>
        <p:nvSpPr>
          <p:cNvPr id="2052" name="TextBox 10">
            <a:extLst>
              <a:ext uri="{FF2B5EF4-FFF2-40B4-BE49-F238E27FC236}">
                <a16:creationId xmlns:a16="http://schemas.microsoft.com/office/drawing/2014/main" id="{5AA3DFD6-9F53-E8B7-3E62-FBC76B2295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2763" y="2441575"/>
            <a:ext cx="26131837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1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9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8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sz="3000" b="0" i="1"/>
              <a:t>Department of Computer Science and Technology, Wenzhou-Kean University, Wenzhou, China</a:t>
            </a:r>
          </a:p>
        </p:txBody>
      </p:sp>
      <p:sp>
        <p:nvSpPr>
          <p:cNvPr id="2053" name="TextBox 12">
            <a:extLst>
              <a:ext uri="{FF2B5EF4-FFF2-40B4-BE49-F238E27FC236}">
                <a16:creationId xmlns:a16="http://schemas.microsoft.com/office/drawing/2014/main" id="{7969E1F6-14D8-BDA1-FF19-B739FD8B40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525" y="4549775"/>
            <a:ext cx="10033000" cy="64944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1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2863">
              <a:spcBef>
                <a:spcPct val="20000"/>
              </a:spcBef>
              <a:buFont typeface="Arial" panose="020B0604020202020204" pitchFamily="34" charset="0"/>
              <a:buChar char="–"/>
              <a:defRPr sz="9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8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400"/>
              </a:spcAft>
              <a:buFontTx/>
              <a:buNone/>
            </a:pPr>
            <a:r>
              <a:rPr sz="2900" b="1" i="0">
                <a:solidFill>
                  <a:srgbClr val="2C3E50"/>
                </a:solidFill>
              </a:rPr>
              <a:t>What is an HRTF?</a:t>
            </a:r>
          </a:p>
          <a:p>
            <a:pPr>
              <a:spcAft>
                <a:spcPts val="1000"/>
              </a:spcAft>
            </a:pPr>
            <a:r>
              <a:rPr sz="2800" b="0" i="0">
                <a:solidFill>
                  <a:srgbClr val="1A1A2E"/>
                </a:solidFill>
              </a:rPr>
              <a:t>Head-Related Transfer Functions (HRTFs) are acoustic filters encoding how an individual's anatomy (head, pinnae, torso) transforms sound — the cornerstone of binaural spatial audio over headphones.</a:t>
            </a:r>
          </a:p>
          <a:p>
            <a:pPr>
              <a:spcAft>
                <a:spcPts val="400"/>
              </a:spcAft>
            </a:pPr>
            <a:r>
              <a:rPr sz="2900" b="1" i="0">
                <a:solidFill>
                  <a:srgbClr val="2C3E50"/>
                </a:solidFill>
              </a:rPr>
              <a:t>Why Current Metrics Fail</a:t>
            </a:r>
          </a:p>
          <a:p>
            <a:pPr>
              <a:spcAft>
                <a:spcPts val="400"/>
              </a:spcAft>
            </a:pPr>
            <a:r>
              <a:rPr sz="2700" b="1" i="0">
                <a:solidFill>
                  <a:srgbClr val="164B8C"/>
                </a:solidFill>
              </a:rPr>
              <a:t>•  </a:t>
            </a:r>
            <a:r>
              <a:rPr sz="2700" b="1" i="0">
                <a:solidFill>
                  <a:srgbClr val="1A1A2E"/>
                </a:solidFill>
              </a:rPr>
              <a:t>LSD is magnitude-only: </a:t>
            </a:r>
            <a:r>
              <a:rPr sz="2700" b="0" i="0">
                <a:solidFill>
                  <a:srgbClr val="1A1A2E"/>
                </a:solidFill>
              </a:rPr>
              <a:t>completely blind to phase distortions.</a:t>
            </a:r>
          </a:p>
          <a:p>
            <a:pPr>
              <a:spcAft>
                <a:spcPts val="400"/>
              </a:spcAft>
            </a:pPr>
            <a:r>
              <a:rPr sz="2700" b="1" i="0">
                <a:solidFill>
                  <a:srgbClr val="164B8C"/>
                </a:solidFill>
              </a:rPr>
              <a:t>•  </a:t>
            </a:r>
            <a:r>
              <a:rPr sz="2700" b="1" i="0">
                <a:solidFill>
                  <a:srgbClr val="1A1A2E"/>
                </a:solidFill>
              </a:rPr>
              <a:t>LSD is monaural: </a:t>
            </a:r>
            <a:r>
              <a:rPr sz="2700" b="0" i="0">
                <a:solidFill>
                  <a:srgbClr val="1A1A2E"/>
                </a:solidFill>
              </a:rPr>
              <a:t>misses binaural cues (ILD, ITD) critical for spatial localisation.</a:t>
            </a:r>
          </a:p>
          <a:p>
            <a:pPr>
              <a:spcAft>
                <a:spcPts val="1000"/>
              </a:spcAft>
            </a:pPr>
            <a:r>
              <a:rPr sz="2700" b="1" i="0">
                <a:solidFill>
                  <a:srgbClr val="164B8C"/>
                </a:solidFill>
              </a:rPr>
              <a:t>•  </a:t>
            </a:r>
            <a:r>
              <a:rPr sz="2700" b="1" i="0">
                <a:solidFill>
                  <a:srgbClr val="1A1A2E"/>
                </a:solidFill>
              </a:rPr>
              <a:t>LSD is frequency-blind: </a:t>
            </a:r>
            <a:r>
              <a:rPr sz="2700" b="0" i="0">
                <a:solidFill>
                  <a:srgbClr val="1A1A2E"/>
                </a:solidFill>
              </a:rPr>
              <a:t>weights all bands equally, obscuring critical pinna notches (4-12 kHz).</a:t>
            </a:r>
          </a:p>
          <a:p>
            <a:pPr>
              <a:spcAft>
                <a:spcPts val="400"/>
              </a:spcAft>
            </a:pPr>
            <a:r>
              <a:rPr sz="2900" b="1" i="0">
                <a:solidFill>
                  <a:srgbClr val="C0392B"/>
                </a:solidFill>
              </a:rPr>
              <a:t>The "LSD Blindspot" - Key Motivation</a:t>
            </a:r>
          </a:p>
          <a:p>
            <a:pPr>
              <a:spcAft>
                <a:spcPts val="1000"/>
              </a:spcAft>
            </a:pPr>
            <a:r>
              <a:rPr sz="2800" b="0" i="0">
                <a:solidFill>
                  <a:srgbClr val="1A1A2E"/>
                </a:solidFill>
              </a:rPr>
              <a:t>Andreopoulou &amp; Katz (2022) showed minimum-phase reconstruction achieves </a:t>
            </a:r>
            <a:r>
              <a:rPr sz="2800" b="1" i="0">
                <a:solidFill>
                  <a:srgbClr val="164B8C"/>
                </a:solidFill>
              </a:rPr>
              <a:t>LSD &lt; 1 dB</a:t>
            </a:r>
            <a:r>
              <a:rPr sz="2800" b="0" i="0">
                <a:solidFill>
                  <a:srgbClr val="1A1A2E"/>
                </a:solidFill>
              </a:rPr>
              <a:t> ("perfect" by industry standards) yet caused </a:t>
            </a:r>
            <a:r>
              <a:rPr sz="2800" b="1" i="0">
                <a:solidFill>
                  <a:srgbClr val="C0392B"/>
                </a:solidFill>
              </a:rPr>
              <a:t>subjective ranking collapse (r ~ 0.5)</a:t>
            </a:r>
            <a:r>
              <a:rPr sz="2800" b="0" i="0">
                <a:solidFill>
                  <a:srgbClr val="1A1A2E"/>
                </a:solidFill>
              </a:rPr>
              <a:t> -- inverting assessments for ~18% of HRTFs.</a:t>
            </a:r>
          </a:p>
          <a:p>
            <a:pPr>
              <a:spcAft>
                <a:spcPts val="400"/>
              </a:spcAft>
            </a:pPr>
            <a:r>
              <a:rPr sz="2900" b="1" i="0">
                <a:solidFill>
                  <a:srgbClr val="2C3E50"/>
                </a:solidFill>
              </a:rPr>
              <a:t>Proposed Solution</a:t>
            </a:r>
          </a:p>
          <a:p>
            <a:r>
              <a:rPr sz="2800" b="0" i="0">
                <a:solidFill>
                  <a:srgbClr val="1A1A2E"/>
                </a:solidFill>
              </a:rPr>
              <a:t>A </a:t>
            </a:r>
            <a:r>
              <a:rPr sz="2800" b="1" i="0">
                <a:solidFill>
                  <a:srgbClr val="164B8C"/>
                </a:solidFill>
              </a:rPr>
              <a:t>Composite Perceptual Metric (CPM)</a:t>
            </a:r>
            <a:r>
              <a:rPr sz="2800" b="0" i="0">
                <a:solidFill>
                  <a:srgbClr val="1A1A2E"/>
                </a:solidFill>
              </a:rPr>
              <a:t> integrating LSD, ILD error, Group Delay error, and ITD error -- capturing both magnitude and phase degradations in a single weighted score.</a:t>
            </a:r>
          </a:p>
        </p:txBody>
      </p:sp>
      <p:sp>
        <p:nvSpPr>
          <p:cNvPr id="2054" name="TextBox 15">
            <a:extLst>
              <a:ext uri="{FF2B5EF4-FFF2-40B4-BE49-F238E27FC236}">
                <a16:creationId xmlns:a16="http://schemas.microsoft.com/office/drawing/2014/main" id="{805B76B2-3CD8-01E4-2CF5-7BE603878B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2400" y="4549775"/>
            <a:ext cx="10347325" cy="168354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1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9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8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400"/>
              </a:spcAft>
              <a:buFontTx/>
              <a:buNone/>
            </a:pPr>
            <a:r>
              <a:rPr sz="2900" b="1" i="0">
                <a:solidFill>
                  <a:srgbClr val="C0392B"/>
                </a:solidFill>
              </a:rPr>
              <a:t>Central Finding</a:t>
            </a:r>
          </a:p>
          <a:p>
            <a:pPr>
              <a:spcAft>
                <a:spcPts val="1200"/>
              </a:spcAft>
            </a:pPr>
            <a:r>
              <a:rPr sz="2800" b="0" i="0">
                <a:solidFill>
                  <a:srgbClr val="1A1A2E"/>
                </a:solidFill>
              </a:rPr>
              <a:t>Minimum-phase reconstruction achieves the </a:t>
            </a:r>
            <a:r>
              <a:rPr sz="2800" b="1" i="0">
                <a:solidFill>
                  <a:srgbClr val="1A7A4A"/>
                </a:solidFill>
              </a:rPr>
              <a:t>LOWEST LSD (0.030 dB)</a:t>
            </a:r>
            <a:r>
              <a:rPr sz="2800" b="0" i="0">
                <a:solidFill>
                  <a:srgbClr val="1A1A2E"/>
                </a:solidFill>
              </a:rPr>
              <a:t> of all conditions, yet produces the </a:t>
            </a:r>
            <a:r>
              <a:rPr sz="2800" b="1" i="0">
                <a:solidFill>
                  <a:srgbClr val="C0392B"/>
                </a:solidFill>
              </a:rPr>
              <a:t>HIGHEST CPM (14.094)</a:t>
            </a:r>
            <a:r>
              <a:rPr sz="2800" b="0" i="0">
                <a:solidFill>
                  <a:srgbClr val="1A1A2E"/>
                </a:solidFill>
              </a:rPr>
              <a:t> -- over 5x the next worst. This is the LSD blindspot empirically confirmed.</a:t>
            </a:r>
          </a:p>
          <a:p>
            <a:pPr>
              <a:spcAft>
                <a:spcPts val="600"/>
              </a:spcAft>
            </a:pPr>
            <a:r>
              <a:rPr sz="2900" b="1" i="0">
                <a:solidFill>
                  <a:srgbClr val="2C3E50"/>
                </a:solidFill>
              </a:rPr>
              <a:t>Results  (mean +/- std, n = 20 subjects)</a:t>
            </a:r>
          </a:p>
          <a:p>
            <a:pPr>
              <a:spcAft>
                <a:spcPts val="200"/>
              </a:spcAft>
            </a:pPr>
            <a:r>
              <a:rPr sz="2400" b="1" i="0">
                <a:solidFill>
                  <a:srgbClr val="164B8C"/>
                </a:solidFill>
              </a:rPr>
              <a:t>Condition           LSD (dB)   ILD Err (dB)  GD Err (ms)   CPM</a:t>
            </a:r>
          </a:p>
          <a:p>
            <a:pPr>
              <a:spcAft>
                <a:spcPts val="200"/>
              </a:spcAft>
            </a:pPr>
            <a:r>
              <a:rPr sz="2400" b="1" i="0">
                <a:solidFill>
                  <a:srgbClr val="C0392B"/>
                </a:solidFill>
              </a:rPr>
              <a:t>Min-Phase        </a:t>
            </a:r>
            <a:r>
              <a:rPr sz="2400" b="1" i="0">
                <a:solidFill>
                  <a:srgbClr val="1A7A4A"/>
                </a:solidFill>
              </a:rPr>
              <a:t>0.030 [*]  </a:t>
            </a:r>
            <a:r>
              <a:rPr sz="2400" b="0" i="0">
                <a:solidFill>
                  <a:srgbClr val="1A1A2E"/>
                </a:solidFill>
              </a:rPr>
              <a:t>0.058          </a:t>
            </a:r>
            <a:r>
              <a:rPr sz="2400" b="1" i="0">
                <a:solidFill>
                  <a:srgbClr val="C0392B"/>
                </a:solidFill>
              </a:rPr>
              <a:t>2.335 [*]     </a:t>
            </a:r>
            <a:r>
              <a:rPr sz="2400" b="1" i="0">
                <a:solidFill>
                  <a:srgbClr val="C0392B"/>
                </a:solidFill>
              </a:rPr>
              <a:t>14.094 [*]</a:t>
            </a:r>
          </a:p>
          <a:p>
            <a:pPr>
              <a:spcAft>
                <a:spcPts val="200"/>
              </a:spcAft>
            </a:pPr>
            <a:r>
              <a:rPr sz="2400" b="0" i="0">
                <a:solidFill>
                  <a:srgbClr val="1A1A2E"/>
                </a:solidFill>
              </a:rPr>
              <a:t>1/3-Oct Smooth   2.332       3.122          0.176          1.880</a:t>
            </a:r>
          </a:p>
          <a:p>
            <a:pPr>
              <a:spcAft>
                <a:spcPts val="200"/>
              </a:spcAft>
            </a:pPr>
            <a:r>
              <a:rPr sz="2400" b="0" i="0">
                <a:solidFill>
                  <a:srgbClr val="1A1A2E"/>
                </a:solidFill>
              </a:rPr>
              <a:t>1/1-Oct Smooth   3.829       4.562          0.209          2.592</a:t>
            </a:r>
          </a:p>
          <a:p>
            <a:pPr>
              <a:spcAft>
                <a:spcPts val="200"/>
              </a:spcAft>
            </a:pPr>
            <a:r>
              <a:rPr sz="2400" b="0" i="0">
                <a:solidFill>
                  <a:srgbClr val="1A1A2E"/>
                </a:solidFill>
              </a:rPr>
              <a:t>12-bit Quant.      0.140       0.238          0.060          0.352</a:t>
            </a:r>
          </a:p>
          <a:p>
            <a:pPr>
              <a:spcAft>
                <a:spcPts val="400"/>
              </a:spcAft>
            </a:pPr>
            <a:r>
              <a:rPr sz="2400" b="0" i="0">
                <a:solidFill>
                  <a:srgbClr val="1A1A2E"/>
                </a:solidFill>
              </a:rPr>
              <a:t>8-bit Quant.       1.065       1.730          0.202          1.503</a:t>
            </a:r>
          </a:p>
          <a:p>
            <a:pPr>
              <a:spcAft>
                <a:spcPts val="1200"/>
              </a:spcAft>
            </a:pPr>
            <a:r>
              <a:rPr sz="2200" b="0" i="1">
                <a:solidFill>
                  <a:srgbClr val="2C3E50"/>
                </a:solidFill>
              </a:rPr>
              <a:t>[*] = extreme value   |   GD weight = 0.35 (highest) -- phase-sensitive key discriminator</a:t>
            </a:r>
          </a:p>
          <a:p>
            <a:pPr>
              <a:spcAft>
                <a:spcPts val="400"/>
              </a:spcAft>
            </a:pPr>
            <a:r>
              <a:rPr sz="2900" b="1" i="0">
                <a:solidFill>
                  <a:srgbClr val="2C3E50"/>
                </a:solidFill>
              </a:rPr>
              <a:t>Key Observations</a:t>
            </a:r>
          </a:p>
          <a:p>
            <a:pPr>
              <a:spcAft>
                <a:spcPts val="500"/>
              </a:spcAft>
            </a:pPr>
            <a:r>
              <a:rPr sz="2700" b="1" i="0">
                <a:solidFill>
                  <a:srgbClr val="C0392B"/>
                </a:solidFill>
              </a:rPr>
              <a:t>•  </a:t>
            </a:r>
            <a:r>
              <a:rPr sz="2700" b="1" i="0">
                <a:solidFill>
                  <a:srgbClr val="1A1A2E"/>
                </a:solidFill>
              </a:rPr>
              <a:t>Group Delay Error (2.335 ms) is 11-39x larger </a:t>
            </a:r>
            <a:r>
              <a:rPr sz="2700" b="0" i="0">
                <a:solidFill>
                  <a:srgbClr val="1A1A2E"/>
                </a:solidFill>
              </a:rPr>
              <a:t>than any other condition -- directly exposing the phase destruction LSD cannot detect.</a:t>
            </a:r>
          </a:p>
          <a:p>
            <a:pPr>
              <a:spcAft>
                <a:spcPts val="500"/>
              </a:spcAft>
            </a:pPr>
            <a:r>
              <a:rPr sz="2700" b="1" i="0">
                <a:solidFill>
                  <a:srgbClr val="164B8C"/>
                </a:solidFill>
              </a:rPr>
              <a:t>•  </a:t>
            </a:r>
            <a:r>
              <a:rPr sz="2700" b="1" i="0">
                <a:solidFill>
                  <a:srgbClr val="1A1A2E"/>
                </a:solidFill>
              </a:rPr>
              <a:t>CPM ranks all non-phase conditions monotonically </a:t>
            </a:r>
            <a:r>
              <a:rPr sz="2700" b="0" i="0">
                <a:solidFill>
                  <a:srgbClr val="1A1A2E"/>
                </a:solidFill>
              </a:rPr>
              <a:t>(12-bit &lt; 8-bit &lt; 1/3-oct &lt; 1/1-oct), confirming CPM retains full magnitude sensitivity.</a:t>
            </a:r>
          </a:p>
          <a:p>
            <a:pPr>
              <a:spcAft>
                <a:spcPts val="500"/>
              </a:spcAft>
            </a:pPr>
            <a:r>
              <a:rPr sz="2700" b="1" i="0">
                <a:solidFill>
                  <a:srgbClr val="164B8C"/>
                </a:solidFill>
              </a:rPr>
              <a:t>•  </a:t>
            </a:r>
            <a:r>
              <a:rPr sz="2700" b="1" i="0">
                <a:solidFill>
                  <a:srgbClr val="1A1A2E"/>
                </a:solidFill>
              </a:rPr>
              <a:t>LSD vs. CPM scatter: </a:t>
            </a:r>
            <a:r>
              <a:rPr sz="2700" b="0" i="0">
                <a:solidFill>
                  <a:srgbClr val="1A1A2E"/>
                </a:solidFill>
              </a:rPr>
              <a:t>min-phase sits at (LSD~0, CPM~14) -- far off the ideal diagonal -- while all other conditions cluster near it.</a:t>
            </a:r>
          </a:p>
          <a:p>
            <a:r>
              <a:rPr sz="2700" b="1" i="0">
                <a:solidFill>
                  <a:srgbClr val="164B8C"/>
                </a:solidFill>
              </a:rPr>
              <a:t>•  </a:t>
            </a:r>
            <a:r>
              <a:rPr sz="2700" b="1" i="0">
                <a:solidFill>
                  <a:srgbClr val="1A1A2E"/>
                </a:solidFill>
              </a:rPr>
              <a:t>Spectral plots (Figs. 3 &amp; 4): </a:t>
            </a:r>
            <a:r>
              <a:rPr sz="2700" b="0" i="0">
                <a:solidFill>
                  <a:srgbClr val="1A1A2E"/>
                </a:solidFill>
              </a:rPr>
              <a:t>magnitude spectra of original vs. min-phase are nearly identical (explaining low LSD), but group delay diverges massively in the pinna notch region (4-12 kHz).</a:t>
            </a:r>
          </a:p>
        </p:txBody>
      </p:sp>
      <p:sp>
        <p:nvSpPr>
          <p:cNvPr id="2055" name="TextBox 16">
            <a:extLst>
              <a:ext uri="{FF2B5EF4-FFF2-40B4-BE49-F238E27FC236}">
                <a16:creationId xmlns:a16="http://schemas.microsoft.com/office/drawing/2014/main" id="{7795E9E1-7975-DFF7-2E9F-732C143CA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05988" y="4506913"/>
            <a:ext cx="9802812" cy="114173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1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9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8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sz="2900" b="1" i="0">
                <a:solidFill>
                  <a:srgbClr val="2C3E50"/>
                </a:solidFill>
              </a:rPr>
              <a:t>Three Principal Contributions</a:t>
            </a:r>
          </a:p>
          <a:p>
            <a:pPr>
              <a:spcAft>
                <a:spcPts val="300"/>
              </a:spcAft>
            </a:pPr>
            <a:r>
              <a:rPr sz="2800" b="1" i="0">
                <a:solidFill>
                  <a:srgbClr val="C0392B"/>
                </a:solidFill>
              </a:rPr>
              <a:t>1.  </a:t>
            </a:r>
            <a:r>
              <a:rPr sz="2800" b="1" i="0">
                <a:solidFill>
                  <a:srgbClr val="1A1A2E"/>
                </a:solidFill>
              </a:rPr>
              <a:t>LSD Blindspot Empirically Confirmed</a:t>
            </a:r>
          </a:p>
          <a:p>
            <a:pPr>
              <a:spcAft>
                <a:spcPts val="800"/>
              </a:spcAft>
            </a:pPr>
            <a:r>
              <a:rPr sz="2600" b="0" i="0">
                <a:solidFill>
                  <a:srgbClr val="1A1A2E"/>
                </a:solidFill>
              </a:rPr>
              <a:t>     Min-phase: LSD = 0.030 dB (best) yet CPM = 14.094 (worst). Direct empirical support for Andreopoulou &amp; Katz (2022) on an independent database (RIEC vs. LISTEN).</a:t>
            </a:r>
          </a:p>
          <a:p>
            <a:pPr>
              <a:spcAft>
                <a:spcPts val="300"/>
              </a:spcAft>
            </a:pPr>
            <a:r>
              <a:rPr sz="2800" b="1" i="0">
                <a:solidFill>
                  <a:srgbClr val="164B8C"/>
                </a:solidFill>
              </a:rPr>
              <a:t>2.  </a:t>
            </a:r>
            <a:r>
              <a:rPr sz="2800" b="1" i="0">
                <a:solidFill>
                  <a:srgbClr val="1A1A2E"/>
                </a:solidFill>
              </a:rPr>
              <a:t>Group Delay Error as Phase Discriminator</a:t>
            </a:r>
          </a:p>
          <a:p>
            <a:pPr>
              <a:spcAft>
                <a:spcPts val="800"/>
              </a:spcAft>
            </a:pPr>
            <a:r>
              <a:rPr sz="2600" b="0" i="0">
                <a:solidFill>
                  <a:srgbClr val="1A1A2E"/>
                </a:solidFill>
              </a:rPr>
              <a:t>     At 2.335 ms -- over 10x larger than any other condition -- GD error is the critical component that catches what LSD misses entirely.</a:t>
            </a:r>
          </a:p>
          <a:p>
            <a:pPr>
              <a:spcAft>
                <a:spcPts val="300"/>
              </a:spcAft>
            </a:pPr>
            <a:r>
              <a:rPr sz="2800" b="1" i="0">
                <a:solidFill>
                  <a:srgbClr val="1A7A4A"/>
                </a:solidFill>
              </a:rPr>
              <a:t>3.  </a:t>
            </a:r>
            <a:r>
              <a:rPr sz="2800" b="1" i="0">
                <a:solidFill>
                  <a:srgbClr val="1A1A2E"/>
                </a:solidFill>
              </a:rPr>
              <a:t>CPM Captures Both Degradation Domains</a:t>
            </a:r>
          </a:p>
          <a:p>
            <a:pPr>
              <a:spcAft>
                <a:spcPts val="1000"/>
              </a:spcAft>
            </a:pPr>
            <a:r>
              <a:rPr sz="2600" b="0" i="0">
                <a:solidFill>
                  <a:srgbClr val="1A1A2E"/>
                </a:solidFill>
              </a:rPr>
              <a:t>     CPM correctly ranks all five conditions -- detecting phase distortions while remaining monotonically sensitive to magnitude distortions.</a:t>
            </a:r>
          </a:p>
          <a:p>
            <a:pPr>
              <a:spcAft>
                <a:spcPts val="400"/>
              </a:spcAft>
            </a:pPr>
            <a:r>
              <a:rPr sz="2900" b="1" i="0">
                <a:solidFill>
                  <a:srgbClr val="2C3E50"/>
                </a:solidFill>
              </a:rPr>
              <a:t>Limitations</a:t>
            </a:r>
          </a:p>
          <a:p>
            <a:pPr>
              <a:spcAft>
                <a:spcPts val="300"/>
              </a:spcAft>
            </a:pPr>
            <a:r>
              <a:rPr sz="2700" b="1" i="0">
                <a:solidFill>
                  <a:srgbClr val="164B8C"/>
                </a:solidFill>
              </a:rPr>
              <a:t>•  </a:t>
            </a:r>
            <a:r>
              <a:rPr sz="2600" b="0" i="0">
                <a:solidFill>
                  <a:srgbClr val="1A1A2E"/>
                </a:solidFill>
              </a:rPr>
              <a:t>No subjective listening tests; CPM-perception correlation unvalidated.</a:t>
            </a:r>
          </a:p>
          <a:p>
            <a:pPr>
              <a:spcAft>
                <a:spcPts val="300"/>
              </a:spcAft>
            </a:pPr>
            <a:r>
              <a:rPr sz="2700" b="1" i="0">
                <a:solidFill>
                  <a:srgbClr val="164B8C"/>
                </a:solidFill>
              </a:rPr>
              <a:t>•  </a:t>
            </a:r>
            <a:r>
              <a:rPr sz="2600" b="0" i="0">
                <a:solidFill>
                  <a:srgbClr val="1A1A2E"/>
                </a:solidFill>
              </a:rPr>
              <a:t>CPM weights are heuristic (JND-based), not optimised against subjective scores.</a:t>
            </a:r>
          </a:p>
          <a:p>
            <a:pPr>
              <a:spcAft>
                <a:spcPts val="1000"/>
              </a:spcAft>
            </a:pPr>
            <a:r>
              <a:rPr sz="2700" b="1" i="0">
                <a:solidFill>
                  <a:srgbClr val="164B8C"/>
                </a:solidFill>
              </a:rPr>
              <a:t>•  </a:t>
            </a:r>
            <a:r>
              <a:rPr sz="2600" b="0" i="0">
                <a:solidFill>
                  <a:srgbClr val="1A1A2E"/>
                </a:solidFill>
              </a:rPr>
              <a:t>Only 20 of 51 available subjects used.</a:t>
            </a:r>
          </a:p>
          <a:p>
            <a:pPr>
              <a:spcAft>
                <a:spcPts val="400"/>
              </a:spcAft>
            </a:pPr>
            <a:r>
              <a:rPr sz="2900" b="1" i="0">
                <a:solidFill>
                  <a:srgbClr val="2C3E50"/>
                </a:solidFill>
              </a:rPr>
              <a:t>Future Work</a:t>
            </a:r>
          </a:p>
          <a:p>
            <a:pPr>
              <a:spcAft>
                <a:spcPts val="300"/>
              </a:spcAft>
            </a:pPr>
            <a:r>
              <a:rPr sz="2700" b="1" i="0">
                <a:solidFill>
                  <a:srgbClr val="164B8C"/>
                </a:solidFill>
              </a:rPr>
              <a:t>▶  </a:t>
            </a:r>
            <a:r>
              <a:rPr sz="2600" b="0" i="0">
                <a:solidFill>
                  <a:srgbClr val="1A1A2E"/>
                </a:solidFill>
              </a:rPr>
              <a:t>MUSHRA subjective validation (15 expert listeners, ITU-R BS.1534-3).</a:t>
            </a:r>
          </a:p>
          <a:p>
            <a:pPr>
              <a:spcAft>
                <a:spcPts val="300"/>
              </a:spcAft>
            </a:pPr>
            <a:r>
              <a:rPr sz="2700" b="1" i="0">
                <a:solidFill>
                  <a:srgbClr val="164B8C"/>
                </a:solidFill>
              </a:rPr>
              <a:t>▶  </a:t>
            </a:r>
            <a:r>
              <a:rPr sz="2600" b="0" i="0">
                <a:solidFill>
                  <a:srgbClr val="1A1A2E"/>
                </a:solidFill>
              </a:rPr>
              <a:t>SADIE II database cross-validation for generalisability.</a:t>
            </a:r>
          </a:p>
          <a:p>
            <a:pPr>
              <a:spcAft>
                <a:spcPts val="300"/>
              </a:spcAft>
            </a:pPr>
            <a:r>
              <a:rPr sz="2700" b="1" i="0">
                <a:solidFill>
                  <a:srgbClr val="164B8C"/>
                </a:solidFill>
              </a:rPr>
              <a:t>▶  </a:t>
            </a:r>
            <a:r>
              <a:rPr sz="2600" b="0" i="0">
                <a:solidFill>
                  <a:srgbClr val="1A1A2E"/>
                </a:solidFill>
              </a:rPr>
              <a:t>Empirical optimisation of CPM weights via regression against MOS.</a:t>
            </a:r>
          </a:p>
          <a:p>
            <a:pPr>
              <a:spcAft>
                <a:spcPts val="300"/>
              </a:spcAft>
            </a:pPr>
            <a:r>
              <a:rPr sz="2700" b="1" i="0">
                <a:solidFill>
                  <a:srgbClr val="164B8C"/>
                </a:solidFill>
              </a:rPr>
              <a:t>▶  </a:t>
            </a:r>
            <a:r>
              <a:rPr sz="2600" b="0" i="0">
                <a:solidFill>
                  <a:srgbClr val="1A1A2E"/>
                </a:solidFill>
              </a:rPr>
              <a:t>CPM as ML training loss function for HRTF generative models.</a:t>
            </a:r>
          </a:p>
          <a:p>
            <a:r>
              <a:rPr sz="2700" b="1" i="0">
                <a:solidFill>
                  <a:srgbClr val="164B8C"/>
                </a:solidFill>
              </a:rPr>
              <a:t>▶  </a:t>
            </a:r>
            <a:r>
              <a:rPr sz="2600" b="0" i="0">
                <a:solidFill>
                  <a:srgbClr val="1A1A2E"/>
                </a:solidFill>
              </a:rPr>
              <a:t>Frequency-dependent weighting to emphasise pinna notch region (4-12 kHz).</a:t>
            </a:r>
          </a:p>
        </p:txBody>
      </p:sp>
      <p:sp>
        <p:nvSpPr>
          <p:cNvPr id="2056" name="TextBox 17">
            <a:extLst>
              <a:ext uri="{FF2B5EF4-FFF2-40B4-BE49-F238E27FC236}">
                <a16:creationId xmlns:a16="http://schemas.microsoft.com/office/drawing/2014/main" id="{B2A6B01C-9D4F-CC86-41F0-5662CF0ED1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963" y="12877800"/>
            <a:ext cx="10088562" cy="84645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1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sz="9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8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400"/>
              </a:spcAft>
              <a:buFontTx/>
              <a:buNone/>
            </a:pPr>
            <a:r>
              <a:rPr sz="2900" b="1" i="0">
                <a:solidFill>
                  <a:srgbClr val="2C3E50"/>
                </a:solidFill>
              </a:rPr>
              <a:t>Dataset: RIEC HRTF Database</a:t>
            </a:r>
          </a:p>
          <a:p>
            <a:pPr>
              <a:spcAft>
                <a:spcPts val="300"/>
              </a:spcAft>
            </a:pPr>
            <a:r>
              <a:rPr sz="2700" b="1" i="0">
                <a:solidFill>
                  <a:srgbClr val="164B8C"/>
                </a:solidFill>
              </a:rPr>
              <a:t>•  </a:t>
            </a:r>
            <a:r>
              <a:rPr sz="2700" b="1" i="0">
                <a:solidFill>
                  <a:srgbClr val="1A1A2E"/>
                </a:solidFill>
              </a:rPr>
              <a:t>20 subjects </a:t>
            </a:r>
            <a:r>
              <a:rPr sz="2700" b="0" i="0">
                <a:solidFill>
                  <a:srgbClr val="1A1A2E"/>
                </a:solidFill>
              </a:rPr>
              <a:t>(10M / 10F); 865 spatial positions each; 512-sample HRIRs at 48 kHz (SOFA format)</a:t>
            </a:r>
          </a:p>
          <a:p>
            <a:pPr>
              <a:spcAft>
                <a:spcPts val="1000"/>
              </a:spcAft>
            </a:pPr>
            <a:r>
              <a:rPr sz="2700" b="1" i="0">
                <a:solidFill>
                  <a:srgbClr val="164B8C"/>
                </a:solidFill>
              </a:rPr>
              <a:t>•  </a:t>
            </a:r>
            <a:r>
              <a:rPr sz="2700" b="1" i="0">
                <a:solidFill>
                  <a:srgbClr val="1A1A2E"/>
                </a:solidFill>
              </a:rPr>
              <a:t>Analysis range: </a:t>
            </a:r>
            <a:r>
              <a:rPr sz="2700" b="0" i="0">
                <a:solidFill>
                  <a:srgbClr val="1A1A2E"/>
                </a:solidFill>
              </a:rPr>
              <a:t>200 to 16,000 Hz</a:t>
            </a:r>
          </a:p>
          <a:p>
            <a:pPr>
              <a:spcAft>
                <a:spcPts val="400"/>
              </a:spcAft>
            </a:pPr>
            <a:r>
              <a:rPr sz="2900" b="1" i="0">
                <a:solidFill>
                  <a:srgbClr val="2C3E50"/>
                </a:solidFill>
              </a:rPr>
              <a:t>5 Degradation Conditions</a:t>
            </a:r>
          </a:p>
          <a:p>
            <a:pPr>
              <a:spcAft>
                <a:spcPts val="400"/>
              </a:spcAft>
            </a:pPr>
            <a:r>
              <a:rPr sz="2700" b="1" i="0">
                <a:solidFill>
                  <a:srgbClr val="C0392B"/>
                </a:solidFill>
              </a:rPr>
              <a:t>▶  </a:t>
            </a:r>
            <a:r>
              <a:rPr sz="2700" b="1" i="0">
                <a:solidFill>
                  <a:srgbClr val="1A1A2E"/>
                </a:solidFill>
              </a:rPr>
              <a:t>A. Min-Phase Reconstruction</a:t>
            </a:r>
            <a:r>
              <a:rPr sz="2700" b="0" i="0">
                <a:solidFill>
                  <a:srgbClr val="1A1A2E"/>
                </a:solidFill>
              </a:rPr>
              <a:t> -- preserves magnitude, destroys phase; ITD re-inserted.</a:t>
            </a:r>
          </a:p>
          <a:p>
            <a:pPr>
              <a:spcAft>
                <a:spcPts val="400"/>
              </a:spcAft>
            </a:pPr>
            <a:r>
              <a:rPr sz="2700" b="1" i="0">
                <a:solidFill>
                  <a:srgbClr val="164B8C"/>
                </a:solidFill>
              </a:rPr>
              <a:t>▶  </a:t>
            </a:r>
            <a:r>
              <a:rPr sz="2700" b="1" i="0">
                <a:solidFill>
                  <a:srgbClr val="1A1A2E"/>
                </a:solidFill>
              </a:rPr>
              <a:t>B. 1/3-Octave Smoothing</a:t>
            </a:r>
            <a:r>
              <a:rPr sz="2700" b="0" i="0">
                <a:solidFill>
                  <a:srgbClr val="1A1A2E"/>
                </a:solidFill>
              </a:rPr>
              <a:t> -- mild spectral loss, phase intact.</a:t>
            </a:r>
          </a:p>
          <a:p>
            <a:pPr>
              <a:spcAft>
                <a:spcPts val="400"/>
              </a:spcAft>
            </a:pPr>
            <a:r>
              <a:rPr sz="2700" b="1" i="0">
                <a:solidFill>
                  <a:srgbClr val="164B8C"/>
                </a:solidFill>
              </a:rPr>
              <a:t>▶  </a:t>
            </a:r>
            <a:r>
              <a:rPr sz="2700" b="1" i="0">
                <a:solidFill>
                  <a:srgbClr val="1A1A2E"/>
                </a:solidFill>
              </a:rPr>
              <a:t>C. 1/1-Octave Smoothing</a:t>
            </a:r>
            <a:r>
              <a:rPr sz="2700" b="0" i="0">
                <a:solidFill>
                  <a:srgbClr val="1A1A2E"/>
                </a:solidFill>
              </a:rPr>
              <a:t> -- aggressive; obliterates pinna notches.</a:t>
            </a:r>
          </a:p>
          <a:p>
            <a:pPr>
              <a:spcAft>
                <a:spcPts val="400"/>
              </a:spcAft>
            </a:pPr>
            <a:r>
              <a:rPr sz="2700" b="1" i="0">
                <a:solidFill>
                  <a:srgbClr val="164B8C"/>
                </a:solidFill>
              </a:rPr>
              <a:t>▶  </a:t>
            </a:r>
            <a:r>
              <a:rPr sz="2700" b="1" i="0">
                <a:solidFill>
                  <a:srgbClr val="1A1A2E"/>
                </a:solidFill>
              </a:rPr>
              <a:t>D. 12-bit Quantization</a:t>
            </a:r>
            <a:r>
              <a:rPr sz="2700" b="0" i="0">
                <a:solidFill>
                  <a:srgbClr val="1A1A2E"/>
                </a:solidFill>
              </a:rPr>
              <a:t> -- noise floor ~-72 dB; minimal distortion.</a:t>
            </a:r>
          </a:p>
          <a:p>
            <a:pPr>
              <a:spcAft>
                <a:spcPts val="1000"/>
              </a:spcAft>
            </a:pPr>
            <a:r>
              <a:rPr sz="2700" b="1" i="0">
                <a:solidFill>
                  <a:srgbClr val="164B8C"/>
                </a:solidFill>
              </a:rPr>
              <a:t>▶  </a:t>
            </a:r>
            <a:r>
              <a:rPr sz="2700" b="1" i="0">
                <a:solidFill>
                  <a:srgbClr val="1A1A2E"/>
                </a:solidFill>
              </a:rPr>
              <a:t>E. 8-bit Quantization</a:t>
            </a:r>
            <a:r>
              <a:rPr sz="2700" b="0" i="0">
                <a:solidFill>
                  <a:srgbClr val="1A1A2E"/>
                </a:solidFill>
              </a:rPr>
              <a:t> -- noise floor ~-48 dB; clearly audible.</a:t>
            </a:r>
          </a:p>
          <a:p>
            <a:pPr>
              <a:spcAft>
                <a:spcPts val="400"/>
              </a:spcAft>
            </a:pPr>
            <a:r>
              <a:rPr sz="2900" b="1" i="0">
                <a:solidFill>
                  <a:srgbClr val="2C3E50"/>
                </a:solidFill>
              </a:rPr>
              <a:t>Four Metrics + CPM Composite</a:t>
            </a:r>
          </a:p>
          <a:p>
            <a:pPr>
              <a:spcAft>
                <a:spcPts val="300"/>
              </a:spcAft>
            </a:pPr>
            <a:r>
              <a:rPr sz="2700" b="1" i="0">
                <a:solidFill>
                  <a:srgbClr val="164B8C"/>
                </a:solidFill>
              </a:rPr>
              <a:t>•  </a:t>
            </a:r>
            <a:r>
              <a:rPr sz="2700" b="1" i="0">
                <a:solidFill>
                  <a:srgbClr val="1A1A2E"/>
                </a:solidFill>
              </a:rPr>
              <a:t>Metric 1 -- LSD (dB): </a:t>
            </a:r>
            <a:r>
              <a:rPr sz="2700" b="0" i="0">
                <a:solidFill>
                  <a:srgbClr val="1A1A2E"/>
                </a:solidFill>
              </a:rPr>
              <a:t>baseline magnitude metric.</a:t>
            </a:r>
          </a:p>
          <a:p>
            <a:pPr>
              <a:spcAft>
                <a:spcPts val="300"/>
              </a:spcAft>
            </a:pPr>
            <a:r>
              <a:rPr sz="2700" b="1" i="0">
                <a:solidFill>
                  <a:srgbClr val="164B8C"/>
                </a:solidFill>
              </a:rPr>
              <a:t>•  </a:t>
            </a:r>
            <a:r>
              <a:rPr sz="2700" b="1" i="0">
                <a:solidFill>
                  <a:srgbClr val="1A1A2E"/>
                </a:solidFill>
              </a:rPr>
              <a:t>Metric 2 -- ILD Error (dB): </a:t>
            </a:r>
            <a:r>
              <a:rPr sz="2700" b="0" i="0">
                <a:solidFill>
                  <a:srgbClr val="1A1A2E"/>
                </a:solidFill>
              </a:rPr>
              <a:t>binaural level difference; JND ~1 dB.</a:t>
            </a:r>
          </a:p>
          <a:p>
            <a:pPr>
              <a:spcAft>
                <a:spcPts val="300"/>
              </a:spcAft>
            </a:pPr>
            <a:r>
              <a:rPr sz="2700" b="1" i="0">
                <a:solidFill>
                  <a:srgbClr val="164B8C"/>
                </a:solidFill>
              </a:rPr>
              <a:t>•  </a:t>
            </a:r>
            <a:r>
              <a:rPr sz="2700" b="1" i="0">
                <a:solidFill>
                  <a:srgbClr val="1A1A2E"/>
                </a:solidFill>
              </a:rPr>
              <a:t>Metric 3 -- Group Delay Error (ms): </a:t>
            </a:r>
            <a:r>
              <a:rPr sz="2700" b="0" i="0">
                <a:solidFill>
                  <a:srgbClr val="1A1A2E"/>
                </a:solidFill>
              </a:rPr>
              <a:t>phase-sensitive key discriminator.</a:t>
            </a:r>
          </a:p>
          <a:p>
            <a:pPr>
              <a:spcAft>
                <a:spcPts val="800"/>
              </a:spcAft>
            </a:pPr>
            <a:r>
              <a:rPr sz="2700" b="1" i="0">
                <a:solidFill>
                  <a:srgbClr val="164B8C"/>
                </a:solidFill>
              </a:rPr>
              <a:t>•  </a:t>
            </a:r>
            <a:r>
              <a:rPr sz="2700" b="1" i="0">
                <a:solidFill>
                  <a:srgbClr val="1A1A2E"/>
                </a:solidFill>
              </a:rPr>
              <a:t>Metric 4 -- ITD Error (ms): </a:t>
            </a:r>
            <a:r>
              <a:rPr sz="2700" b="0" i="0">
                <a:solidFill>
                  <a:srgbClr val="1A1A2E"/>
                </a:solidFill>
              </a:rPr>
              <a:t>binaural timing; JND ~10-30 us.</a:t>
            </a:r>
          </a:p>
          <a:p>
            <a:pPr>
              <a:spcAft>
                <a:spcPts val="300"/>
              </a:spcAft>
            </a:pPr>
            <a:r>
              <a:rPr sz="2500" b="1" i="0">
                <a:solidFill>
                  <a:srgbClr val="164B8C"/>
                </a:solidFill>
              </a:rPr>
              <a:t>CPM = 0.20*(LSD/2.0) + 0.25*(ILD/1.0) + 0.35*(GD/0.08) + 0.20*(ITD/0.03)</a:t>
            </a:r>
          </a:p>
          <a:p>
            <a:r>
              <a:rPr sz="2400" b="0" i="1">
                <a:solidFill>
                  <a:srgbClr val="1A1A2E"/>
                </a:solidFill>
              </a:rPr>
              <a:t>Weights reflect JND-based psychoacoustic thresholds. GD receives highest weight (0.35) to detect phase distortions LSD misses.</a:t>
            </a:r>
          </a:p>
        </p:txBody>
      </p:sp>
      <p:sp>
        <p:nvSpPr>
          <p:cNvPr id="2057" name="TextBox 18">
            <a:extLst>
              <a:ext uri="{FF2B5EF4-FFF2-40B4-BE49-F238E27FC236}">
                <a16:creationId xmlns:a16="http://schemas.microsoft.com/office/drawing/2014/main" id="{0493C360-0C1E-3B18-48AE-A50CF4A1B9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88538" y="17802225"/>
            <a:ext cx="9720262" cy="35401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1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9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8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400"/>
              </a:spcAft>
              <a:buFontTx/>
              <a:buNone/>
            </a:pPr>
            <a:r>
              <a:rPr sz="2200" b="0" i="0">
                <a:solidFill>
                  <a:srgbClr val="1A1A2E"/>
                </a:solidFill>
              </a:rPr>
              <a:t>[1] Andreopoulou &amp; Katz. Perceptual impact on localization quality evaluations of common pre-processing for non-individual HRTFs. JAES, 70(5):340-354, 2022.</a:t>
            </a:r>
          </a:p>
          <a:p>
            <a:pPr>
              <a:spcAft>
                <a:spcPts val="400"/>
              </a:spcAft>
            </a:pPr>
            <a:r>
              <a:rPr sz="2200" b="0" i="0">
                <a:solidFill>
                  <a:srgbClr val="1A1A2E"/>
                </a:solidFill>
              </a:rPr>
              <a:t>[2] Gebru et al. A survey of advanced spatial audio research. arXiv:2508.10924, 2025.</a:t>
            </a:r>
          </a:p>
          <a:p>
            <a:pPr>
              <a:spcAft>
                <a:spcPts val="400"/>
              </a:spcAft>
            </a:pPr>
            <a:r>
              <a:rPr sz="2200" b="0" i="0">
                <a:solidFill>
                  <a:srgbClr val="1A1A2E"/>
                </a:solidFill>
              </a:rPr>
              <a:t>[3] Armstrong et al. Perceptually enhanced spectral distance metric for HRTF quality prediction. JASA, 156(6):4133-4152, 2024.</a:t>
            </a:r>
          </a:p>
          <a:p>
            <a:pPr>
              <a:spcAft>
                <a:spcPts val="400"/>
              </a:spcAft>
            </a:pPr>
            <a:r>
              <a:rPr sz="2200" b="0" i="0">
                <a:solidFill>
                  <a:srgbClr val="1A1A2E"/>
                </a:solidFill>
              </a:rPr>
              <a:t>[4] Panah et al. BINAQUAL: A full-reference objective localization similarity metric for binaural audio. arXiv:2505.11915, 2025.</a:t>
            </a:r>
          </a:p>
          <a:p>
            <a:pPr>
              <a:spcAft>
                <a:spcPts val="400"/>
              </a:spcAft>
            </a:pPr>
            <a:r>
              <a:rPr sz="2200" b="0" i="0">
                <a:solidFill>
                  <a:srgbClr val="1A1A2E"/>
                </a:solidFill>
              </a:rPr>
              <a:t>[5] Ananthabhotla, Ithapu &amp; Brimijoin. A framework for designing HRTF distance metrics that capture localization perception. JASA Express Letters, 1(4), 2021.</a:t>
            </a:r>
          </a:p>
          <a:p>
            <a:pPr>
              <a:spcAft>
                <a:spcPts val="400"/>
              </a:spcAft>
            </a:pPr>
            <a:r>
              <a:rPr sz="2200" b="0" i="0">
                <a:solidFill>
                  <a:srgbClr val="1A1A2E"/>
                </a:solidFill>
              </a:rPr>
              <a:t>[6] Watanabe et al. RIEC HRTF Database, Tohoku University, 2014.</a:t>
            </a:r>
          </a:p>
          <a:p>
            <a:pPr>
              <a:spcAft>
                <a:spcPts val="400"/>
              </a:spcAft>
            </a:pPr>
            <a:r>
              <a:rPr sz="2200" b="0" i="0">
                <a:solidFill>
                  <a:srgbClr val="1A1A2E"/>
                </a:solidFill>
              </a:rPr>
              <a:t>[7] Kistler &amp; Wightman. A model of HRTFs based on PCA and minimum-phase reconstruction. JASA, 91(3):1637-1647, 1992.</a:t>
            </a:r>
          </a:p>
          <a:p>
            <a:pPr>
              <a:spcAft>
                <a:spcPts val="400"/>
              </a:spcAft>
            </a:pPr>
            <a:r>
              <a:rPr sz="2200" b="0" i="0">
                <a:solidFill>
                  <a:srgbClr val="1A1A2E"/>
                </a:solidFill>
              </a:rPr>
              <a:t>[8] Zhang et al. Towards perception-informed latent HRTF representations. arXiv:2507.02815, 2025.</a:t>
            </a:r>
          </a:p>
        </p:txBody>
      </p:sp>
      <p:sp>
        <p:nvSpPr>
          <p:cNvPr id="2058" name="TextBox 1">
            <a:extLst>
              <a:ext uri="{FF2B5EF4-FFF2-40B4-BE49-F238E27FC236}">
                <a16:creationId xmlns:a16="http://schemas.microsoft.com/office/drawing/2014/main" id="{3006D258-17C5-0720-1A04-CDFED79398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963" y="3725863"/>
            <a:ext cx="10053637" cy="70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1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9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8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 b="1"/>
              <a:t>Introduction</a:t>
            </a:r>
          </a:p>
        </p:txBody>
      </p:sp>
      <p:sp>
        <p:nvSpPr>
          <p:cNvPr id="2059" name="TextBox 13">
            <a:extLst>
              <a:ext uri="{FF2B5EF4-FFF2-40B4-BE49-F238E27FC236}">
                <a16:creationId xmlns:a16="http://schemas.microsoft.com/office/drawing/2014/main" id="{AE604548-2659-5C21-478F-2AE4E4CAF7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963" y="12150725"/>
            <a:ext cx="1005363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1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9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8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 b="1"/>
              <a:t>Methods and Materials</a:t>
            </a:r>
          </a:p>
        </p:txBody>
      </p:sp>
      <p:sp>
        <p:nvSpPr>
          <p:cNvPr id="2060" name="TextBox 14">
            <a:extLst>
              <a:ext uri="{FF2B5EF4-FFF2-40B4-BE49-F238E27FC236}">
                <a16:creationId xmlns:a16="http://schemas.microsoft.com/office/drawing/2014/main" id="{CB7C42C9-4D79-D68A-FF31-007C1A2306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30038" y="3725863"/>
            <a:ext cx="10052050" cy="70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1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9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8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 b="1"/>
              <a:t>Results</a:t>
            </a:r>
          </a:p>
        </p:txBody>
      </p:sp>
      <p:sp>
        <p:nvSpPr>
          <p:cNvPr id="2061" name="TextBox 19">
            <a:extLst>
              <a:ext uri="{FF2B5EF4-FFF2-40B4-BE49-F238E27FC236}">
                <a16:creationId xmlns:a16="http://schemas.microsoft.com/office/drawing/2014/main" id="{E02F9CAB-84DA-2822-521B-088095AA74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21850" y="3725863"/>
            <a:ext cx="10053638" cy="70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1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9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8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 b="1"/>
              <a:t>Conclusions</a:t>
            </a:r>
          </a:p>
        </p:txBody>
      </p:sp>
      <p:sp>
        <p:nvSpPr>
          <p:cNvPr id="2062" name="TextBox 20">
            <a:extLst>
              <a:ext uri="{FF2B5EF4-FFF2-40B4-BE49-F238E27FC236}">
                <a16:creationId xmlns:a16="http://schemas.microsoft.com/office/drawing/2014/main" id="{0487CD24-6D6D-6493-1CCD-CE3D035DA8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88538" y="17000538"/>
            <a:ext cx="1005205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1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9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8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 b="1"/>
              <a:t>References</a:t>
            </a:r>
          </a:p>
        </p:txBody>
      </p:sp>
      <p:pic>
        <p:nvPicPr>
          <p:cNvPr id="2063" name="图片 3" descr="Kean_Seal-2018">
            <a:extLst>
              <a:ext uri="{FF2B5EF4-FFF2-40B4-BE49-F238E27FC236}">
                <a16:creationId xmlns:a16="http://schemas.microsoft.com/office/drawing/2014/main" id="{BFE63F41-966B-EBF1-A6C0-18D7F63989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525" y="457200"/>
            <a:ext cx="3000375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261</Words>
  <Application>Microsoft Office PowerPoint</Application>
  <PresentationFormat>Custom</PresentationFormat>
  <Paragraphs>83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Calibri</vt:lpstr>
      <vt:lpstr>Arial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Christina Z.  Luna</dc:creator>
  <cp:lastModifiedBy>上豪 邹</cp:lastModifiedBy>
  <cp:revision>11</cp:revision>
  <dcterms:created xsi:type="dcterms:W3CDTF">2013-01-23T15:34:07Z</dcterms:created>
  <dcterms:modified xsi:type="dcterms:W3CDTF">2026-04-21T13:42:21Z</dcterms:modified>
</cp:coreProperties>
</file>